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2A84F87-CB83-B4F8-3655-CA88338F967D}">
          <p14:sldIdLst>
            <p14:sldId id="256"/>
          </p14:sldIdLst>
        </p14:section>
        <p14:section name="The plan" id="{05C22FE7-2965-82A2-65EC-ABE0CD989903}">
          <p14:sldIdLst>
            <p14:sldId id="257"/>
            <p14:sldId id="258"/>
            <p14:sldId id="259"/>
            <p14:sldId id="260"/>
            <p14:sldId id="261"/>
          </p14:sldIdLst>
        </p14:section>
        <p14:section name="Closing" id="{3AF3528C-2534-92D6-1B9D-CB2B9125C55C}">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50" d="100"/>
          <a:sy n="150" d="100"/>
        </p:scale>
        <p:origin x="47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2188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I'll explain how I plan to put my SalonBooking app on AWS. AWS is Amazon's cloud. It means we rent computers and ready-made services from Amazon instead of running them ourselves.
This is a plan. I have not deployed it yet. I'll cover three things: what the app looks like today, where each part will live in AWS, and what I need to fix in the code first.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made of small parts. Each part does one job.
Identity handles sign up and login. Salon handles the salons, their services and their photos. Booking handles the bookings and the free time slots. Notification sends an email when a booking is made. The Gateway is the front door: every request comes in through it, and it passes the request to the right part. The website is what the user sees in the browser.
Today all of this runs on my laptop. A tool called Aspire starts everything for me: the database, the cache, the file storage and the message queue. Aspire also tells each part how to find the others.
Aspire does this only on my laptop. In AWS, I have to choose a real service for each of these things.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one idea: a container. A container is a box that holds a program and everything it needs to run. If it runs on my laptop, it runs the same way in the cloud. Each of my five parts becomes one container.
ECR is a storage place for containers. I upload my five containers there.
ECS Fargate runs the containers. I tell it which container to run and how many copies I want. Amazon looks after the machines, so I have no servers to manage.
RDS is a database that Amazon runs for us. It takes care of backups and updates. My app uses Postgres, and RDS supports Postgres, so the data works the same way.
ElastiCache is the same idea for Redis. Redis is a fast memory store that my Booking part uses to answer quickly.
S3 is file storage. The salon photos go there.
SQS is a message queue. Think of it as a post box. Booking drops a message in it and moves on. Notification picks the message up later and sends the email.
CloudFront serves the website to users quickly. The website files themselves sit in S3.
Secrets Manager is a safe for passwords and keys, so they are never written in the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safety. All of this sits inside a private network called a VPC. Think of it as a building with one door.
The door is the load balancer. It takes requests from the internet and passes them only to the Gateway. The other four parts, the database and the cache are inside the building. Nobody on the internet can reach them directly.
The website is separate. Users load it from CloudFront, and the website then talks to the app through the same one door.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six steps.
One: pack each part into a container and upload it to ECR.
Two: create the private network.
Three: create the database and the cache inside that network.
Four: put all passwords and keys into Secrets Manager.
Five: start the five containers on Fargate and connect only the Gateway to the load balancer.
Six: build the website and upload it to S3, with CloudFront in front.
The first time, I will do these steps by hand so I understand each one. After that, I will set up a pipeline. A pipeline means that when I push new code, it is built and deployed without manual steps.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not ready to deploy as it is. I found six things.
One: file storage and the message queue use Microsoft Azure tools today, and only practice versions that run on my laptop. I need to change the code to use S3 and SQS.
Two: the Gateway only accepts the website when it runs on my laptop. It must accept the real website address.
Three: the parts find each other using addresses that only work on my laptop. These must come from settings.
Four: Identity and Salon have a few internal routes with no login check. That is safe only if they stay inside the private network, which is why only the Gateway is public.
Five: each part updates its own database tables when it starts. With one copy that is fine. With many copies they can clash, so later this becomes a separate step.
Six: the admin password is written in a code file today. It must move to Secrets Manager.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each part runs as a container on Fargate, Amazon runs the database, cache, storage and queue for us, and only the Gateway is open to the internet.
My first step is small. I will pack one part into a container and run it without Aspire, to check that it works. Then I will make the S3 and SQS changes, and then set up AWS.
I'm happy to take questions.
LIKELY QUESTIONS
Why Fargate and not Kubernetes? Kubernetes is powerful but has much more to learn and manage. Five small parts do not need it. The same containers can move to Kubernetes later.
Why not keep using Azure for storage and the queue? It would work, but then we use two clouds, with two bills and two things to manage.
Why one database server and not three? Cost. Each part still has its own separate database on that server, and they can be split later.
What about the scheduled job? It is still pending. In AWS, a service called EventBridge can start a job on a timer.
How much will it cost? I have not worked that out yet.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5120640" cy="155448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548640" y="3108960"/>
            <a:ext cx="4846320" cy="100584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5120640" cy="1554480"/>
          </a:xfrm>
          <a:prstGeom prst="rect">
            <a:avLst/>
          </a:prstGeom>
          <a:noFill/>
          <a:ln/>
        </p:spPr>
        <p:txBody>
          <a:bodyPr wrap="square" lIns="0" tIns="0" rIns="0" bIns="0" rtlCol="0" anchor="b"/>
          <a:lstStyle/>
          <a:p>
            <a:pPr marL="0" indent="0" algn="l">
              <a:buNone/>
            </a:pPr>
            <a:r>
              <a:rPr lang="en-US" sz="3600" b="1" dirty="0">
                <a:solidFill>
                  <a:schemeClr val="bg1"/>
                </a:solidFill>
              </a:rPr>
              <a:t>Deploying SalonBooking to AWS</a:t>
            </a:r>
            <a:endParaRPr lang="en-US" sz="3600" dirty="0"/>
          </a:p>
        </p:txBody>
      </p:sp>
      <p:sp>
        <p:nvSpPr>
          <p:cNvPr id="3" name="Text 0"/>
          <p:cNvSpPr>
            <a:spLocks noGrp="1"/>
          </p:cNvSpPr>
          <p:nvPr>
            <p:ph type="body" idx="101" hasCustomPrompt="1"/>
          </p:nvPr>
        </p:nvSpPr>
        <p:spPr>
          <a:xfrm>
            <a:off x="548640" y="3108960"/>
            <a:ext cx="4846320" cy="1005840"/>
          </a:xfrm>
          <a:prstGeom prst="rect">
            <a:avLst/>
          </a:prstGeom>
          <a:noFill/>
          <a:ln/>
        </p:spPr>
        <p:txBody>
          <a:bodyPr wrap="square" lIns="0" tIns="0" rIns="0" bIns="0" rtlCol="0" anchor="t"/>
          <a:lstStyle/>
          <a:p>
            <a:pPr marL="0" indent="0" algn="l">
              <a:buNone/>
            </a:pPr>
            <a:r>
              <a:rPr lang="en-US" sz="1800" dirty="0">
                <a:solidFill>
                  <a:schemeClr val="bg2"/>
                </a:solidFill>
              </a:rPr>
              <a:t>A plan: where each part of the app will live, and what to fix first</a:t>
            </a:r>
            <a:endParaRPr lang="en-US" sz="1800" dirty="0"/>
          </a:p>
        </p:txBody>
      </p:sp>
      <p:sp>
        <p:nvSpPr>
          <p:cNvPr id="4" name="Circle large"/>
          <p:cNvSpPr/>
          <p:nvPr/>
        </p:nvSpPr>
        <p:spPr>
          <a:xfrm>
            <a:off x="6309360" y="822960"/>
            <a:ext cx="2377440" cy="2377440"/>
          </a:xfrm>
          <a:prstGeom prst="ellipse">
            <a:avLst/>
          </a:prstGeom>
          <a:solidFill>
            <a:schemeClr val="accent2"/>
          </a:solidFill>
          <a:ln/>
        </p:spPr>
      </p:sp>
      <p:sp>
        <p:nvSpPr>
          <p:cNvPr id="5" name="Circle medium"/>
          <p:cNvSpPr/>
          <p:nvPr/>
        </p:nvSpPr>
        <p:spPr>
          <a:xfrm>
            <a:off x="5806440" y="2697480"/>
            <a:ext cx="1554480" cy="1554480"/>
          </a:xfrm>
          <a:prstGeom prst="ellipse">
            <a:avLst/>
          </a:prstGeom>
          <a:solidFill>
            <a:schemeClr val="accent3"/>
          </a:solidFill>
          <a:ln/>
        </p:spPr>
      </p:sp>
      <p:sp>
        <p:nvSpPr>
          <p:cNvPr id="6" name="Circle small"/>
          <p:cNvSpPr/>
          <p:nvPr/>
        </p:nvSpPr>
        <p:spPr>
          <a:xfrm>
            <a:off x="7680960" y="3383280"/>
            <a:ext cx="914400" cy="914400"/>
          </a:xfrm>
          <a:prstGeom prst="ellipse">
            <a:avLst/>
          </a:prstGeom>
          <a:solidFill>
            <a:schemeClr val="accent5"/>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The app today: six small parts</a:t>
            </a:r>
            <a:endParaRPr lang="en-US" sz="3000" dirty="0"/>
          </a:p>
        </p:txBody>
      </p:sp>
      <p:sp>
        <p:nvSpPr>
          <p:cNvPr id="3" name="Card Identity"/>
          <p:cNvSpPr/>
          <p:nvPr/>
        </p:nvSpPr>
        <p:spPr>
          <a:xfrm>
            <a:off x="457200" y="1234440"/>
            <a:ext cx="2560320" cy="1188720"/>
          </a:xfrm>
          <a:prstGeom prst="roundRect">
            <a:avLst>
              <a:gd name="adj" fmla="val 6154"/>
            </a:avLst>
          </a:prstGeom>
          <a:solidFill>
            <a:schemeClr val="bg2"/>
          </a:solidFill>
          <a:ln/>
        </p:spPr>
      </p:sp>
      <p:sp>
        <p:nvSpPr>
          <p:cNvPr id="4" name="Badge Identity"/>
          <p:cNvSpPr txBox="1"/>
          <p:nvPr/>
        </p:nvSpPr>
        <p:spPr>
          <a:xfrm>
            <a:off x="640080" y="1600200"/>
            <a:ext cx="457200" cy="457200"/>
          </a:xfrm>
          <a:prstGeom prst="ellipse">
            <a:avLst/>
          </a:prstGeom>
          <a:solidFill>
            <a:schemeClr val="accent2"/>
          </a:solidFill>
          <a:ln/>
        </p:spPr>
        <p:txBody>
          <a:bodyPr wrap="square" lIns="0" tIns="0" rIns="0" bIns="0" rtlCol="0" anchor="ctr"/>
          <a:lstStyle/>
          <a:p>
            <a:pPr marL="0" indent="0" algn="ctr">
              <a:buNone/>
            </a:pPr>
            <a:r>
              <a:rPr lang="en-US" sz="1600" b="1" dirty="0">
                <a:solidFill>
                  <a:schemeClr val="bg1"/>
                </a:solidFill>
              </a:rPr>
              <a:t>I</a:t>
            </a:r>
            <a:endParaRPr lang="en-US" sz="1600" dirty="0"/>
          </a:p>
        </p:txBody>
      </p:sp>
      <p:sp>
        <p:nvSpPr>
          <p:cNvPr id="5" name="Text Identity"/>
          <p:cNvSpPr txBox="1"/>
          <p:nvPr/>
        </p:nvSpPr>
        <p:spPr>
          <a:xfrm>
            <a:off x="1234440" y="1371600"/>
            <a:ext cx="1645920" cy="914400"/>
          </a:xfrm>
          <a:prstGeom prst="rect">
            <a:avLst/>
          </a:prstGeom>
          <a:noFill/>
          <a:ln/>
        </p:spPr>
        <p:txBody>
          <a:bodyPr wrap="square" lIns="0" tIns="0" rIns="0" bIns="0" rtlCol="0" anchor="ctr"/>
          <a:lstStyle/>
          <a:p>
            <a:pPr marL="0" indent="0">
              <a:buNone/>
            </a:pPr>
            <a:r>
              <a:rPr lang="en-US" sz="1600" b="1" dirty="0">
                <a:solidFill>
                  <a:schemeClr val="tx2"/>
                </a:solidFill>
              </a:rPr>
              <a:t>Identity</a:t>
            </a:r>
            <a:endParaRPr lang="en-US" sz="1600" dirty="0"/>
          </a:p>
          <a:p>
            <a:pPr marL="0" indent="0">
              <a:buNone/>
            </a:pPr>
            <a:r>
              <a:rPr lang="en-US" sz="1400" dirty="0">
                <a:solidFill>
                  <a:schemeClr val="tx1"/>
                </a:solidFill>
              </a:rPr>
              <a:t>Sign up and login</a:t>
            </a:r>
            <a:endParaRPr lang="en-US" sz="1600" dirty="0"/>
          </a:p>
        </p:txBody>
      </p:sp>
      <p:sp>
        <p:nvSpPr>
          <p:cNvPr id="6" name="Card Salon"/>
          <p:cNvSpPr/>
          <p:nvPr/>
        </p:nvSpPr>
        <p:spPr>
          <a:xfrm>
            <a:off x="3291840" y="1234440"/>
            <a:ext cx="2560320" cy="1188720"/>
          </a:xfrm>
          <a:prstGeom prst="roundRect">
            <a:avLst>
              <a:gd name="adj" fmla="val 6154"/>
            </a:avLst>
          </a:prstGeom>
          <a:solidFill>
            <a:schemeClr val="bg2"/>
          </a:solidFill>
          <a:ln/>
        </p:spPr>
      </p:sp>
      <p:sp>
        <p:nvSpPr>
          <p:cNvPr id="7" name="Badge Salon"/>
          <p:cNvSpPr txBox="1"/>
          <p:nvPr/>
        </p:nvSpPr>
        <p:spPr>
          <a:xfrm>
            <a:off x="3474720" y="1600200"/>
            <a:ext cx="457200" cy="457200"/>
          </a:xfrm>
          <a:prstGeom prst="ellipse">
            <a:avLst/>
          </a:prstGeom>
          <a:solidFill>
            <a:schemeClr val="accent2"/>
          </a:solidFill>
          <a:ln/>
        </p:spPr>
        <p:txBody>
          <a:bodyPr wrap="square" lIns="0" tIns="0" rIns="0" bIns="0" rtlCol="0" anchor="ctr"/>
          <a:lstStyle/>
          <a:p>
            <a:pPr marL="0" indent="0" algn="ctr">
              <a:buNone/>
            </a:pPr>
            <a:r>
              <a:rPr lang="en-US" sz="1600" b="1" dirty="0">
                <a:solidFill>
                  <a:schemeClr val="bg1"/>
                </a:solidFill>
              </a:rPr>
              <a:t>S</a:t>
            </a:r>
            <a:endParaRPr lang="en-US" sz="1600" dirty="0"/>
          </a:p>
        </p:txBody>
      </p:sp>
      <p:sp>
        <p:nvSpPr>
          <p:cNvPr id="8" name="Text Salon"/>
          <p:cNvSpPr txBox="1"/>
          <p:nvPr/>
        </p:nvSpPr>
        <p:spPr>
          <a:xfrm>
            <a:off x="4069080" y="1371600"/>
            <a:ext cx="1645920" cy="914400"/>
          </a:xfrm>
          <a:prstGeom prst="rect">
            <a:avLst/>
          </a:prstGeom>
          <a:noFill/>
          <a:ln/>
        </p:spPr>
        <p:txBody>
          <a:bodyPr wrap="square" lIns="0" tIns="0" rIns="0" bIns="0" rtlCol="0" anchor="ctr"/>
          <a:lstStyle/>
          <a:p>
            <a:pPr marL="0" indent="0">
              <a:buNone/>
            </a:pPr>
            <a:r>
              <a:rPr lang="en-US" sz="1600" b="1" dirty="0">
                <a:solidFill>
                  <a:schemeClr val="tx2"/>
                </a:solidFill>
              </a:rPr>
              <a:t>Salon</a:t>
            </a:r>
            <a:endParaRPr lang="en-US" sz="1600" dirty="0"/>
          </a:p>
          <a:p>
            <a:pPr marL="0" indent="0">
              <a:buNone/>
            </a:pPr>
            <a:r>
              <a:rPr lang="en-US" sz="1400" dirty="0">
                <a:solidFill>
                  <a:schemeClr val="tx1"/>
                </a:solidFill>
              </a:rPr>
              <a:t>Salons, services and photos</a:t>
            </a:r>
            <a:endParaRPr lang="en-US" sz="1600" dirty="0"/>
          </a:p>
        </p:txBody>
      </p:sp>
      <p:sp>
        <p:nvSpPr>
          <p:cNvPr id="9" name="Card Booking"/>
          <p:cNvSpPr/>
          <p:nvPr/>
        </p:nvSpPr>
        <p:spPr>
          <a:xfrm>
            <a:off x="6126480" y="1234440"/>
            <a:ext cx="2560320" cy="1188720"/>
          </a:xfrm>
          <a:prstGeom prst="roundRect">
            <a:avLst>
              <a:gd name="adj" fmla="val 6154"/>
            </a:avLst>
          </a:prstGeom>
          <a:solidFill>
            <a:schemeClr val="bg2"/>
          </a:solidFill>
          <a:ln/>
        </p:spPr>
      </p:sp>
      <p:sp>
        <p:nvSpPr>
          <p:cNvPr id="10" name="Badge Booking"/>
          <p:cNvSpPr txBox="1"/>
          <p:nvPr/>
        </p:nvSpPr>
        <p:spPr>
          <a:xfrm>
            <a:off x="6309360" y="1600200"/>
            <a:ext cx="457200" cy="457200"/>
          </a:xfrm>
          <a:prstGeom prst="ellipse">
            <a:avLst/>
          </a:prstGeom>
          <a:solidFill>
            <a:schemeClr val="accent2"/>
          </a:solidFill>
          <a:ln/>
        </p:spPr>
        <p:txBody>
          <a:bodyPr wrap="square" lIns="0" tIns="0" rIns="0" bIns="0" rtlCol="0" anchor="ctr"/>
          <a:lstStyle/>
          <a:p>
            <a:pPr marL="0" indent="0" algn="ctr">
              <a:buNone/>
            </a:pPr>
            <a:r>
              <a:rPr lang="en-US" sz="1600" b="1" dirty="0">
                <a:solidFill>
                  <a:schemeClr val="bg1"/>
                </a:solidFill>
              </a:rPr>
              <a:t>B</a:t>
            </a:r>
            <a:endParaRPr lang="en-US" sz="1600" dirty="0"/>
          </a:p>
        </p:txBody>
      </p:sp>
      <p:sp>
        <p:nvSpPr>
          <p:cNvPr id="11" name="Text Booking"/>
          <p:cNvSpPr txBox="1"/>
          <p:nvPr/>
        </p:nvSpPr>
        <p:spPr>
          <a:xfrm>
            <a:off x="6903720" y="1371600"/>
            <a:ext cx="1645920" cy="914400"/>
          </a:xfrm>
          <a:prstGeom prst="rect">
            <a:avLst/>
          </a:prstGeom>
          <a:noFill/>
          <a:ln/>
        </p:spPr>
        <p:txBody>
          <a:bodyPr wrap="square" lIns="0" tIns="0" rIns="0" bIns="0" rtlCol="0" anchor="ctr"/>
          <a:lstStyle/>
          <a:p>
            <a:pPr marL="0" indent="0">
              <a:buNone/>
            </a:pPr>
            <a:r>
              <a:rPr lang="en-US" sz="1600" b="1" dirty="0">
                <a:solidFill>
                  <a:schemeClr val="tx2"/>
                </a:solidFill>
              </a:rPr>
              <a:t>Booking</a:t>
            </a:r>
            <a:endParaRPr lang="en-US" sz="1600" dirty="0"/>
          </a:p>
          <a:p>
            <a:pPr marL="0" indent="0">
              <a:buNone/>
            </a:pPr>
            <a:r>
              <a:rPr lang="en-US" sz="1400" dirty="0">
                <a:solidFill>
                  <a:schemeClr val="tx1"/>
                </a:solidFill>
              </a:rPr>
              <a:t>Bookings and free time slots</a:t>
            </a:r>
            <a:endParaRPr lang="en-US" sz="1600" dirty="0"/>
          </a:p>
        </p:txBody>
      </p:sp>
      <p:sp>
        <p:nvSpPr>
          <p:cNvPr id="12" name="Card Notification"/>
          <p:cNvSpPr/>
          <p:nvPr/>
        </p:nvSpPr>
        <p:spPr>
          <a:xfrm>
            <a:off x="457200" y="2697480"/>
            <a:ext cx="2560320" cy="1188720"/>
          </a:xfrm>
          <a:prstGeom prst="roundRect">
            <a:avLst>
              <a:gd name="adj" fmla="val 6154"/>
            </a:avLst>
          </a:prstGeom>
          <a:solidFill>
            <a:schemeClr val="bg2"/>
          </a:solidFill>
          <a:ln/>
        </p:spPr>
      </p:sp>
      <p:sp>
        <p:nvSpPr>
          <p:cNvPr id="13" name="Badge Notification"/>
          <p:cNvSpPr txBox="1"/>
          <p:nvPr/>
        </p:nvSpPr>
        <p:spPr>
          <a:xfrm>
            <a:off x="640080" y="3063240"/>
            <a:ext cx="457200" cy="457200"/>
          </a:xfrm>
          <a:prstGeom prst="ellipse">
            <a:avLst/>
          </a:prstGeom>
          <a:solidFill>
            <a:schemeClr val="accent2"/>
          </a:solidFill>
          <a:ln/>
        </p:spPr>
        <p:txBody>
          <a:bodyPr wrap="square" lIns="0" tIns="0" rIns="0" bIns="0" rtlCol="0" anchor="ctr"/>
          <a:lstStyle/>
          <a:p>
            <a:pPr marL="0" indent="0" algn="ctr">
              <a:buNone/>
            </a:pPr>
            <a:r>
              <a:rPr lang="en-US" sz="1600" b="1" dirty="0">
                <a:solidFill>
                  <a:schemeClr val="bg1"/>
                </a:solidFill>
              </a:rPr>
              <a:t>N</a:t>
            </a:r>
            <a:endParaRPr lang="en-US" sz="1600" dirty="0"/>
          </a:p>
        </p:txBody>
      </p:sp>
      <p:sp>
        <p:nvSpPr>
          <p:cNvPr id="14" name="Text Notification"/>
          <p:cNvSpPr txBox="1"/>
          <p:nvPr/>
        </p:nvSpPr>
        <p:spPr>
          <a:xfrm>
            <a:off x="1234440" y="2834640"/>
            <a:ext cx="1645920" cy="914400"/>
          </a:xfrm>
          <a:prstGeom prst="rect">
            <a:avLst/>
          </a:prstGeom>
          <a:noFill/>
          <a:ln/>
        </p:spPr>
        <p:txBody>
          <a:bodyPr wrap="square" lIns="0" tIns="0" rIns="0" bIns="0" rtlCol="0" anchor="ctr"/>
          <a:lstStyle/>
          <a:p>
            <a:pPr marL="0" indent="0">
              <a:buNone/>
            </a:pPr>
            <a:r>
              <a:rPr lang="en-US" sz="1600" b="1" dirty="0">
                <a:solidFill>
                  <a:schemeClr val="tx2"/>
                </a:solidFill>
              </a:rPr>
              <a:t>Notification</a:t>
            </a:r>
            <a:endParaRPr lang="en-US" sz="1600" dirty="0"/>
          </a:p>
          <a:p>
            <a:pPr marL="0" indent="0">
              <a:buNone/>
            </a:pPr>
            <a:r>
              <a:rPr lang="en-US" sz="1400" dirty="0">
                <a:solidFill>
                  <a:schemeClr val="tx1"/>
                </a:solidFill>
              </a:rPr>
              <a:t>Sends an email after a booking</a:t>
            </a:r>
            <a:endParaRPr lang="en-US" sz="1600" dirty="0"/>
          </a:p>
        </p:txBody>
      </p:sp>
      <p:sp>
        <p:nvSpPr>
          <p:cNvPr id="15" name="Card Gateway"/>
          <p:cNvSpPr/>
          <p:nvPr/>
        </p:nvSpPr>
        <p:spPr>
          <a:xfrm>
            <a:off x="3291840" y="2697480"/>
            <a:ext cx="2560320" cy="1188720"/>
          </a:xfrm>
          <a:prstGeom prst="roundRect">
            <a:avLst>
              <a:gd name="adj" fmla="val 6154"/>
            </a:avLst>
          </a:prstGeom>
          <a:solidFill>
            <a:schemeClr val="bg2"/>
          </a:solidFill>
          <a:ln/>
        </p:spPr>
      </p:sp>
      <p:sp>
        <p:nvSpPr>
          <p:cNvPr id="16" name="Badge Gateway"/>
          <p:cNvSpPr txBox="1"/>
          <p:nvPr/>
        </p:nvSpPr>
        <p:spPr>
          <a:xfrm>
            <a:off x="3474720" y="3063240"/>
            <a:ext cx="457200" cy="457200"/>
          </a:xfrm>
          <a:prstGeom prst="ellipse">
            <a:avLst/>
          </a:prstGeom>
          <a:solidFill>
            <a:schemeClr val="accent2"/>
          </a:solidFill>
          <a:ln/>
        </p:spPr>
        <p:txBody>
          <a:bodyPr wrap="square" lIns="0" tIns="0" rIns="0" bIns="0" rtlCol="0" anchor="ctr"/>
          <a:lstStyle/>
          <a:p>
            <a:pPr marL="0" indent="0" algn="ctr">
              <a:buNone/>
            </a:pPr>
            <a:r>
              <a:rPr lang="en-US" sz="1600" b="1" dirty="0">
                <a:solidFill>
                  <a:schemeClr val="bg1"/>
                </a:solidFill>
              </a:rPr>
              <a:t>G</a:t>
            </a:r>
            <a:endParaRPr lang="en-US" sz="1600" dirty="0"/>
          </a:p>
        </p:txBody>
      </p:sp>
      <p:sp>
        <p:nvSpPr>
          <p:cNvPr id="17" name="Text Gateway"/>
          <p:cNvSpPr txBox="1"/>
          <p:nvPr/>
        </p:nvSpPr>
        <p:spPr>
          <a:xfrm>
            <a:off x="4069080" y="2834640"/>
            <a:ext cx="1645920" cy="914400"/>
          </a:xfrm>
          <a:prstGeom prst="rect">
            <a:avLst/>
          </a:prstGeom>
          <a:noFill/>
          <a:ln/>
        </p:spPr>
        <p:txBody>
          <a:bodyPr wrap="square" lIns="0" tIns="0" rIns="0" bIns="0" rtlCol="0" anchor="ctr"/>
          <a:lstStyle/>
          <a:p>
            <a:pPr marL="0" indent="0">
              <a:buNone/>
            </a:pPr>
            <a:r>
              <a:rPr lang="en-US" sz="1600" b="1" dirty="0">
                <a:solidFill>
                  <a:schemeClr val="tx2"/>
                </a:solidFill>
              </a:rPr>
              <a:t>Gateway</a:t>
            </a:r>
            <a:endParaRPr lang="en-US" sz="1600" dirty="0"/>
          </a:p>
          <a:p>
            <a:pPr marL="0" indent="0">
              <a:buNone/>
            </a:pPr>
            <a:r>
              <a:rPr lang="en-US" sz="1400" dirty="0">
                <a:solidFill>
                  <a:schemeClr val="tx1"/>
                </a:solidFill>
              </a:rPr>
              <a:t>The front door for every request</a:t>
            </a:r>
            <a:endParaRPr lang="en-US" sz="1600" dirty="0"/>
          </a:p>
        </p:txBody>
      </p:sp>
      <p:sp>
        <p:nvSpPr>
          <p:cNvPr id="18" name="Card Website"/>
          <p:cNvSpPr/>
          <p:nvPr/>
        </p:nvSpPr>
        <p:spPr>
          <a:xfrm>
            <a:off x="6126480" y="2697480"/>
            <a:ext cx="2560320" cy="1188720"/>
          </a:xfrm>
          <a:prstGeom prst="roundRect">
            <a:avLst>
              <a:gd name="adj" fmla="val 6154"/>
            </a:avLst>
          </a:prstGeom>
          <a:solidFill>
            <a:schemeClr val="bg2"/>
          </a:solidFill>
          <a:ln/>
        </p:spPr>
      </p:sp>
      <p:sp>
        <p:nvSpPr>
          <p:cNvPr id="19" name="Badge Website"/>
          <p:cNvSpPr txBox="1"/>
          <p:nvPr/>
        </p:nvSpPr>
        <p:spPr>
          <a:xfrm>
            <a:off x="6309360" y="3063240"/>
            <a:ext cx="457200" cy="457200"/>
          </a:xfrm>
          <a:prstGeom prst="ellipse">
            <a:avLst/>
          </a:prstGeom>
          <a:solidFill>
            <a:schemeClr val="accent2"/>
          </a:solidFill>
          <a:ln/>
        </p:spPr>
        <p:txBody>
          <a:bodyPr wrap="square" lIns="0" tIns="0" rIns="0" bIns="0" rtlCol="0" anchor="ctr"/>
          <a:lstStyle/>
          <a:p>
            <a:pPr marL="0" indent="0" algn="ctr">
              <a:buNone/>
            </a:pPr>
            <a:r>
              <a:rPr lang="en-US" sz="1600" b="1" dirty="0">
                <a:solidFill>
                  <a:schemeClr val="bg1"/>
                </a:solidFill>
              </a:rPr>
              <a:t>W</a:t>
            </a:r>
            <a:endParaRPr lang="en-US" sz="1600" dirty="0"/>
          </a:p>
        </p:txBody>
      </p:sp>
      <p:sp>
        <p:nvSpPr>
          <p:cNvPr id="20" name="Text Website"/>
          <p:cNvSpPr txBox="1"/>
          <p:nvPr/>
        </p:nvSpPr>
        <p:spPr>
          <a:xfrm>
            <a:off x="6903720" y="2834640"/>
            <a:ext cx="1645920" cy="914400"/>
          </a:xfrm>
          <a:prstGeom prst="rect">
            <a:avLst/>
          </a:prstGeom>
          <a:noFill/>
          <a:ln/>
        </p:spPr>
        <p:txBody>
          <a:bodyPr wrap="square" lIns="0" tIns="0" rIns="0" bIns="0" rtlCol="0" anchor="ctr"/>
          <a:lstStyle/>
          <a:p>
            <a:pPr marL="0" indent="0">
              <a:buNone/>
            </a:pPr>
            <a:r>
              <a:rPr lang="en-US" sz="1600" b="1" dirty="0">
                <a:solidFill>
                  <a:schemeClr val="tx2"/>
                </a:solidFill>
              </a:rPr>
              <a:t>Website</a:t>
            </a:r>
            <a:endParaRPr lang="en-US" sz="1600" dirty="0"/>
          </a:p>
          <a:p>
            <a:pPr marL="0" indent="0">
              <a:buNone/>
            </a:pPr>
            <a:r>
              <a:rPr lang="en-US" sz="1400" dirty="0">
                <a:solidFill>
                  <a:schemeClr val="tx1"/>
                </a:solidFill>
              </a:rPr>
              <a:t>What the user sees in the browser</a:t>
            </a:r>
            <a:endParaRPr lang="en-US" sz="1600" dirty="0"/>
          </a:p>
        </p:txBody>
      </p:sp>
      <p:sp>
        <p:nvSpPr>
          <p:cNvPr id="21" name="Aspire note"/>
          <p:cNvSpPr txBox="1"/>
          <p:nvPr/>
        </p:nvSpPr>
        <p:spPr>
          <a:xfrm>
            <a:off x="457200" y="4023360"/>
            <a:ext cx="8229600" cy="548640"/>
          </a:xfrm>
          <a:prstGeom prst="rect">
            <a:avLst/>
          </a:prstGeom>
          <a:noFill/>
          <a:ln/>
        </p:spPr>
        <p:txBody>
          <a:bodyPr wrap="square" lIns="0" tIns="0" rIns="0" bIns="0" rtlCol="0" anchor="ctr"/>
          <a:lstStyle/>
          <a:p>
            <a:pPr marL="0" indent="0">
              <a:buNone/>
            </a:pPr>
            <a:r>
              <a:rPr lang="en-US" sz="1400" i="1" dirty="0">
                <a:solidFill>
                  <a:schemeClr val="accent4"/>
                </a:solidFill>
              </a:rPr>
              <a:t>On my laptop, a tool called Aspire starts and connects all of this. In AWS, each piece needs a real service.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Where each part will live in AWS</a:t>
            </a:r>
            <a:endParaRPr lang="en-US" sz="3000" dirty="0"/>
          </a:p>
        </p:txBody>
      </p:sp>
      <p:graphicFrame>
        <p:nvGraphicFramePr>
          <p:cNvPr id="4" name="Mapping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218688"/>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02336">
                <a:tc>
                  <a:txBody>
                    <a:bodyPr/>
                    <a:lstStyle/>
                    <a:p>
                      <a:pPr marL="0" indent="0">
                        <a:buNone/>
                      </a:pPr>
                      <a:r>
                        <a:rPr lang="en-US" sz="1400" b="1" dirty="0">
                          <a:solidFill>
                            <a:schemeClr val="bg1"/>
                          </a:solidFill>
                        </a:rPr>
                        <a:t>On my laptop</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In AWS</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In simple words</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02336">
                <a:tc>
                  <a:txBody>
                    <a:bodyPr/>
                    <a:lstStyle/>
                    <a:p>
                      <a:pPr marL="0" indent="0">
                        <a:buNone/>
                      </a:pPr>
                      <a:r>
                        <a:rPr lang="en-US" sz="1400" dirty="0">
                          <a:solidFill>
                            <a:schemeClr val="tx1"/>
                          </a:solidFill>
                        </a:rPr>
                        <a:t>The five app parts</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2"/>
                          </a:solidFill>
                        </a:rPr>
                        <a:t>ECR + ECS Fargate</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Stores and runs our containers, no servers</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2336">
                <a:tc>
                  <a:txBody>
                    <a:bodyPr/>
                    <a:lstStyle/>
                    <a:p>
                      <a:pPr marL="0" indent="0">
                        <a:buNone/>
                      </a:pPr>
                      <a:r>
                        <a:rPr lang="en-US" sz="1400" dirty="0">
                          <a:solidFill>
                            <a:schemeClr val="tx1"/>
                          </a:solidFill>
                        </a:rPr>
                        <a:t>Postgres database</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2"/>
                          </a:solidFill>
                        </a:rPr>
                        <a:t>RDS</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 database that Amazon runs and backs up</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02336">
                <a:tc>
                  <a:txBody>
                    <a:bodyPr/>
                    <a:lstStyle/>
                    <a:p>
                      <a:pPr marL="0" indent="0">
                        <a:buNone/>
                      </a:pPr>
                      <a:r>
                        <a:rPr lang="en-US" sz="1400" dirty="0">
                          <a:solidFill>
                            <a:schemeClr val="tx1"/>
                          </a:solidFill>
                        </a:rPr>
                        <a:t>Redis cache</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2"/>
                          </a:solidFill>
                        </a:rPr>
                        <a:t>ElastiCache</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 fast memory store, run by Amazon</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02336">
                <a:tc>
                  <a:txBody>
                    <a:bodyPr/>
                    <a:lstStyle/>
                    <a:p>
                      <a:pPr marL="0" indent="0">
                        <a:buNone/>
                      </a:pPr>
                      <a:r>
                        <a:rPr lang="en-US" sz="1400" dirty="0">
                          <a:solidFill>
                            <a:schemeClr val="tx1"/>
                          </a:solidFill>
                        </a:rPr>
                        <a:t>Salon photos</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2"/>
                          </a:solidFill>
                        </a:rPr>
                        <a:t>S3</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File storage</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02336">
                <a:tc>
                  <a:txBody>
                    <a:bodyPr/>
                    <a:lstStyle/>
                    <a:p>
                      <a:pPr marL="0" indent="0">
                        <a:buNone/>
                      </a:pPr>
                      <a:r>
                        <a:rPr lang="en-US" sz="1400" dirty="0">
                          <a:solidFill>
                            <a:schemeClr val="tx1"/>
                          </a:solidFill>
                        </a:rPr>
                        <a:t>Message queue</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2"/>
                          </a:solidFill>
                        </a:rPr>
                        <a:t>SQS</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 post box between Booking and Notification</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02336">
                <a:tc>
                  <a:txBody>
                    <a:bodyPr/>
                    <a:lstStyle/>
                    <a:p>
                      <a:pPr marL="0" indent="0">
                        <a:buNone/>
                      </a:pPr>
                      <a:r>
                        <a:rPr lang="en-US" sz="1400" dirty="0">
                          <a:solidFill>
                            <a:schemeClr val="tx1"/>
                          </a:solidFill>
                        </a:rPr>
                        <a:t>Website</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2"/>
                          </a:solidFill>
                        </a:rPr>
                        <a:t>S3 + CloudFront</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Serves the website to users quickly</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02336">
                <a:tc>
                  <a:txBody>
                    <a:bodyPr/>
                    <a:lstStyle/>
                    <a:p>
                      <a:pPr marL="0" indent="0">
                        <a:buNone/>
                      </a:pPr>
                      <a:r>
                        <a:rPr lang="en-US" sz="1400" dirty="0">
                          <a:solidFill>
                            <a:schemeClr val="tx1"/>
                          </a:solidFill>
                        </a:rPr>
                        <a:t>Passwords and keys</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2"/>
                          </a:solidFill>
                        </a:rPr>
                        <a:t>Secrets Manager</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 safe, so secrets stay out of the code</a:t>
                      </a:r>
                      <a:endParaRPr lang="en-US" sz="1400" dirty="0"/>
                    </a:p>
                  </a:txBody>
                  <a:tcPr marL="109728" marR="109728" marT="0" marB="0" anchor="ctr">
                    <a:lnL w="9525" cap="flat" cmpd="sng" algn="ctr">
                      <a:solidFill>
                        <a:srgbClr val="C9A7C7"/>
                      </a:solidFill>
                      <a:prstDash val="solid"/>
                      <a:round/>
                      <a:headEnd type="none" w="med" len="med"/>
                      <a:tailEnd type="none" w="med" len="med"/>
                    </a:lnL>
                    <a:lnR w="9525" cap="flat" cmpd="sng" algn="ctr">
                      <a:solidFill>
                        <a:srgbClr val="C9A7C7"/>
                      </a:solidFill>
                      <a:prstDash val="solid"/>
                      <a:round/>
                      <a:headEnd type="none" w="med" len="med"/>
                      <a:tailEnd type="none" w="med" len="med"/>
                    </a:lnR>
                    <a:lnT w="9525" cap="flat" cmpd="sng" algn="ctr">
                      <a:solidFill>
                        <a:srgbClr val="C9A7C7"/>
                      </a:solidFill>
                      <a:prstDash val="solid"/>
                      <a:round/>
                      <a:headEnd type="none" w="med" len="med"/>
                      <a:tailEnd type="none" w="med" len="med"/>
                    </a:lnT>
                    <a:lnB w="9525" cap="flat" cmpd="sng" algn="ctr">
                      <a:solidFill>
                        <a:srgbClr val="C9A7C7"/>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One door in: only the Gateway is reachable</a:t>
            </a:r>
            <a:endParaRPr lang="en-US" sz="3000" dirty="0"/>
          </a:p>
        </p:txBody>
      </p:sp>
      <p:sp>
        <p:nvSpPr>
          <p:cNvPr id="3" name="Private network"/>
          <p:cNvSpPr/>
          <p:nvPr/>
        </p:nvSpPr>
        <p:spPr>
          <a:xfrm>
            <a:off x="3651066" y="1188720"/>
            <a:ext cx="5074920" cy="3246120"/>
          </a:xfrm>
          <a:prstGeom prst="roundRect">
            <a:avLst>
              <a:gd name="adj" fmla="val 2817"/>
            </a:avLst>
          </a:prstGeom>
          <a:solidFill>
            <a:schemeClr val="bg2"/>
          </a:solidFill>
          <a:ln w="15875">
            <a:solidFill>
              <a:schemeClr val="accent5"/>
            </a:solidFill>
            <a:prstDash val="dash"/>
          </a:ln>
        </p:spPr>
      </p:sp>
      <p:sp>
        <p:nvSpPr>
          <p:cNvPr id="4" name="Private network label"/>
          <p:cNvSpPr txBox="1"/>
          <p:nvPr/>
        </p:nvSpPr>
        <p:spPr>
          <a:xfrm>
            <a:off x="3794760" y="1243584"/>
            <a:ext cx="2743200" cy="274320"/>
          </a:xfrm>
          <a:prstGeom prst="rect">
            <a:avLst/>
          </a:prstGeom>
          <a:noFill/>
          <a:ln/>
        </p:spPr>
        <p:txBody>
          <a:bodyPr wrap="square" lIns="0" tIns="0" rIns="0" bIns="0" rtlCol="0" anchor="ctr"/>
          <a:lstStyle/>
          <a:p>
            <a:pPr marL="0" indent="0">
              <a:buNone/>
            </a:pPr>
            <a:r>
              <a:rPr lang="en-US" sz="1200" b="1" dirty="0">
                <a:solidFill>
                  <a:schemeClr val="accent4"/>
                </a:solidFill>
              </a:rPr>
              <a:t>Private network (VPC)</a:t>
            </a:r>
            <a:endParaRPr lang="en-US" sz="1200" dirty="0"/>
          </a:p>
        </p:txBody>
      </p:sp>
      <p:sp>
        <p:nvSpPr>
          <p:cNvPr id="5" name="App parts group"/>
          <p:cNvSpPr/>
          <p:nvPr/>
        </p:nvSpPr>
        <p:spPr>
          <a:xfrm>
            <a:off x="5349240" y="1600200"/>
            <a:ext cx="1463040" cy="2697480"/>
          </a:xfrm>
          <a:prstGeom prst="roundRect">
            <a:avLst>
              <a:gd name="adj" fmla="val 5000"/>
            </a:avLst>
          </a:prstGeom>
          <a:solidFill>
            <a:schemeClr val="bg1"/>
          </a:solidFill>
          <a:ln/>
        </p:spPr>
      </p:sp>
      <p:sp>
        <p:nvSpPr>
          <p:cNvPr id="6" name="Data group"/>
          <p:cNvSpPr/>
          <p:nvPr/>
        </p:nvSpPr>
        <p:spPr>
          <a:xfrm>
            <a:off x="7086600" y="1600200"/>
            <a:ext cx="1463040" cy="2697480"/>
          </a:xfrm>
          <a:prstGeom prst="roundRect">
            <a:avLst>
              <a:gd name="adj" fmla="val 5000"/>
            </a:avLst>
          </a:prstGeom>
          <a:solidFill>
            <a:schemeClr val="bg1"/>
          </a:solidFill>
          <a:ln/>
        </p:spPr>
      </p:sp>
      <p:sp>
        <p:nvSpPr>
          <p:cNvPr id="7" name="App parts label"/>
          <p:cNvSpPr txBox="1"/>
          <p:nvPr/>
        </p:nvSpPr>
        <p:spPr>
          <a:xfrm>
            <a:off x="5349240" y="1627632"/>
            <a:ext cx="1463040" cy="256032"/>
          </a:xfrm>
          <a:prstGeom prst="rect">
            <a:avLst/>
          </a:prstGeom>
          <a:noFill/>
          <a:ln/>
        </p:spPr>
        <p:txBody>
          <a:bodyPr wrap="square" lIns="0" tIns="0" rIns="0" bIns="0" rtlCol="0" anchor="ctr"/>
          <a:lstStyle/>
          <a:p>
            <a:pPr marL="0" indent="0" algn="ctr">
              <a:buNone/>
            </a:pPr>
            <a:r>
              <a:rPr lang="en-US" sz="1000" dirty="0">
                <a:solidFill>
                  <a:schemeClr val="accent4"/>
                </a:solidFill>
              </a:rPr>
              <a:t>App parts</a:t>
            </a:r>
            <a:endParaRPr lang="en-US" sz="1000" dirty="0"/>
          </a:p>
        </p:txBody>
      </p:sp>
      <p:sp>
        <p:nvSpPr>
          <p:cNvPr id="8" name="Data label"/>
          <p:cNvSpPr txBox="1"/>
          <p:nvPr/>
        </p:nvSpPr>
        <p:spPr>
          <a:xfrm>
            <a:off x="7086600" y="1627632"/>
            <a:ext cx="1463040" cy="256032"/>
          </a:xfrm>
          <a:prstGeom prst="rect">
            <a:avLst/>
          </a:prstGeom>
          <a:noFill/>
          <a:ln/>
        </p:spPr>
        <p:txBody>
          <a:bodyPr wrap="square" lIns="0" tIns="0" rIns="0" bIns="0" rtlCol="0" anchor="ctr"/>
          <a:lstStyle/>
          <a:p>
            <a:pPr marL="0" indent="0" algn="ctr">
              <a:buNone/>
            </a:pPr>
            <a:r>
              <a:rPr lang="en-US" sz="1000" dirty="0">
                <a:solidFill>
                  <a:schemeClr val="accent4"/>
                </a:solidFill>
              </a:rPr>
              <a:t>Data and messages</a:t>
            </a:r>
            <a:endParaRPr lang="en-US" sz="1000" dirty="0"/>
          </a:p>
        </p:txBody>
      </p:sp>
      <p:sp>
        <p:nvSpPr>
          <p:cNvPr id="9" name="Part Identity"/>
          <p:cNvSpPr txBox="1"/>
          <p:nvPr/>
        </p:nvSpPr>
        <p:spPr>
          <a:xfrm>
            <a:off x="5440680" y="1920240"/>
            <a:ext cx="1280160" cy="493776"/>
          </a:xfrm>
          <a:prstGeom prst="roundRect">
            <a:avLst>
              <a:gd name="adj" fmla="val 11111"/>
            </a:avLst>
          </a:prstGeom>
          <a:solidFill>
            <a:schemeClr val="tx2"/>
          </a:solidFill>
          <a:ln/>
        </p:spPr>
        <p:txBody>
          <a:bodyPr wrap="square" lIns="381" tIns="381" rIns="381" bIns="381" rtlCol="0" anchor="ctr"/>
          <a:lstStyle/>
          <a:p>
            <a:pPr marL="0" indent="0" algn="ctr">
              <a:buNone/>
            </a:pPr>
            <a:r>
              <a:rPr lang="en-US" sz="1300" b="1" dirty="0">
                <a:solidFill>
                  <a:schemeClr val="bg1"/>
                </a:solidFill>
              </a:rPr>
              <a:t>Identity</a:t>
            </a:r>
            <a:endParaRPr lang="en-US" sz="1300" dirty="0"/>
          </a:p>
          <a:p>
            <a:pPr marL="0" indent="0" algn="ctr">
              <a:buNone/>
            </a:pPr>
            <a:r>
              <a:rPr lang="en-US" sz="1000" dirty="0">
                <a:solidFill>
                  <a:schemeClr val="bg1"/>
                </a:solidFill>
              </a:rPr>
              <a:t>login</a:t>
            </a:r>
            <a:endParaRPr lang="en-US" sz="1300" dirty="0"/>
          </a:p>
        </p:txBody>
      </p:sp>
      <p:sp>
        <p:nvSpPr>
          <p:cNvPr id="10" name="Part Salon"/>
          <p:cNvSpPr txBox="1"/>
          <p:nvPr/>
        </p:nvSpPr>
        <p:spPr>
          <a:xfrm>
            <a:off x="5440680" y="2505456"/>
            <a:ext cx="1280160" cy="493776"/>
          </a:xfrm>
          <a:prstGeom prst="roundRect">
            <a:avLst>
              <a:gd name="adj" fmla="val 11111"/>
            </a:avLst>
          </a:prstGeom>
          <a:solidFill>
            <a:schemeClr val="tx2"/>
          </a:solidFill>
          <a:ln/>
        </p:spPr>
        <p:txBody>
          <a:bodyPr wrap="square" lIns="381" tIns="381" rIns="381" bIns="381" rtlCol="0" anchor="ctr"/>
          <a:lstStyle/>
          <a:p>
            <a:pPr marL="0" indent="0" algn="ctr">
              <a:buNone/>
            </a:pPr>
            <a:r>
              <a:rPr lang="en-US" sz="1300" b="1" dirty="0">
                <a:solidFill>
                  <a:schemeClr val="bg1"/>
                </a:solidFill>
              </a:rPr>
              <a:t>Salon</a:t>
            </a:r>
            <a:endParaRPr lang="en-US" sz="1300" dirty="0"/>
          </a:p>
          <a:p>
            <a:pPr marL="0" indent="0" algn="ctr">
              <a:buNone/>
            </a:pPr>
            <a:r>
              <a:rPr lang="en-US" sz="1000" dirty="0">
                <a:solidFill>
                  <a:schemeClr val="bg1"/>
                </a:solidFill>
              </a:rPr>
              <a:t>salons, photos</a:t>
            </a:r>
            <a:endParaRPr lang="en-US" sz="1300" dirty="0"/>
          </a:p>
        </p:txBody>
      </p:sp>
      <p:sp>
        <p:nvSpPr>
          <p:cNvPr id="11" name="Part Booking"/>
          <p:cNvSpPr txBox="1"/>
          <p:nvPr/>
        </p:nvSpPr>
        <p:spPr>
          <a:xfrm>
            <a:off x="5440680" y="3090672"/>
            <a:ext cx="1280160" cy="493776"/>
          </a:xfrm>
          <a:prstGeom prst="roundRect">
            <a:avLst>
              <a:gd name="adj" fmla="val 11111"/>
            </a:avLst>
          </a:prstGeom>
          <a:solidFill>
            <a:schemeClr val="tx2"/>
          </a:solidFill>
          <a:ln/>
        </p:spPr>
        <p:txBody>
          <a:bodyPr wrap="square" lIns="381" tIns="381" rIns="381" bIns="381" rtlCol="0" anchor="ctr"/>
          <a:lstStyle/>
          <a:p>
            <a:pPr marL="0" indent="0" algn="ctr">
              <a:buNone/>
            </a:pPr>
            <a:r>
              <a:rPr lang="en-US" sz="1300" b="1" dirty="0">
                <a:solidFill>
                  <a:schemeClr val="bg1"/>
                </a:solidFill>
              </a:rPr>
              <a:t>Booking</a:t>
            </a:r>
            <a:endParaRPr lang="en-US" sz="1300" dirty="0"/>
          </a:p>
          <a:p>
            <a:pPr marL="0" indent="0" algn="ctr">
              <a:buNone/>
            </a:pPr>
            <a:r>
              <a:rPr lang="en-US" sz="1000" dirty="0">
                <a:solidFill>
                  <a:schemeClr val="bg1"/>
                </a:solidFill>
              </a:rPr>
              <a:t>bookings</a:t>
            </a:r>
            <a:endParaRPr lang="en-US" sz="1300" dirty="0"/>
          </a:p>
        </p:txBody>
      </p:sp>
      <p:sp>
        <p:nvSpPr>
          <p:cNvPr id="12" name="Part Notification"/>
          <p:cNvSpPr txBox="1"/>
          <p:nvPr/>
        </p:nvSpPr>
        <p:spPr>
          <a:xfrm>
            <a:off x="5440680" y="3675888"/>
            <a:ext cx="1280160" cy="493776"/>
          </a:xfrm>
          <a:prstGeom prst="roundRect">
            <a:avLst>
              <a:gd name="adj" fmla="val 11111"/>
            </a:avLst>
          </a:prstGeom>
          <a:solidFill>
            <a:schemeClr val="tx2"/>
          </a:solidFill>
          <a:ln/>
        </p:spPr>
        <p:txBody>
          <a:bodyPr wrap="square" lIns="381" tIns="381" rIns="381" bIns="381" rtlCol="0" anchor="ctr"/>
          <a:lstStyle/>
          <a:p>
            <a:pPr marL="0" indent="0" algn="ctr">
              <a:buNone/>
            </a:pPr>
            <a:r>
              <a:rPr lang="en-US" sz="1300" b="1" dirty="0">
                <a:solidFill>
                  <a:schemeClr val="bg1"/>
                </a:solidFill>
              </a:rPr>
              <a:t>Notification</a:t>
            </a:r>
            <a:endParaRPr lang="en-US" sz="1300" dirty="0"/>
          </a:p>
          <a:p>
            <a:pPr marL="0" indent="0" algn="ctr">
              <a:buNone/>
            </a:pPr>
            <a:r>
              <a:rPr lang="en-US" sz="1000" dirty="0">
                <a:solidFill>
                  <a:schemeClr val="bg1"/>
                </a:solidFill>
              </a:rPr>
              <a:t>emails</a:t>
            </a:r>
            <a:endParaRPr lang="en-US" sz="1300" dirty="0"/>
          </a:p>
        </p:txBody>
      </p:sp>
      <p:sp>
        <p:nvSpPr>
          <p:cNvPr id="13" name="Store Database"/>
          <p:cNvSpPr txBox="1"/>
          <p:nvPr/>
        </p:nvSpPr>
        <p:spPr>
          <a:xfrm>
            <a:off x="7178040" y="1920240"/>
            <a:ext cx="1280160" cy="493776"/>
          </a:xfrm>
          <a:prstGeom prst="roundRect">
            <a:avLst>
              <a:gd name="adj" fmla="val 11111"/>
            </a:avLst>
          </a:prstGeom>
          <a:solidFill>
            <a:schemeClr val="accent3"/>
          </a:solidFill>
          <a:ln/>
        </p:spPr>
        <p:txBody>
          <a:bodyPr wrap="square" lIns="381" tIns="381" rIns="381" bIns="381" rtlCol="0" anchor="ctr"/>
          <a:lstStyle/>
          <a:p>
            <a:pPr marL="0" indent="0" algn="ctr">
              <a:buNone/>
            </a:pPr>
            <a:r>
              <a:rPr lang="en-US" sz="1300" b="1" dirty="0">
                <a:solidFill>
                  <a:schemeClr val="bg1"/>
                </a:solidFill>
              </a:rPr>
              <a:t>Database</a:t>
            </a:r>
            <a:endParaRPr lang="en-US" sz="1300" dirty="0"/>
          </a:p>
          <a:p>
            <a:pPr marL="0" indent="0" algn="ctr">
              <a:buNone/>
            </a:pPr>
            <a:r>
              <a:rPr lang="en-US" sz="1000" dirty="0">
                <a:solidFill>
                  <a:schemeClr val="bg1"/>
                </a:solidFill>
              </a:rPr>
              <a:t>RDS</a:t>
            </a:r>
            <a:endParaRPr lang="en-US" sz="1300" dirty="0"/>
          </a:p>
        </p:txBody>
      </p:sp>
      <p:sp>
        <p:nvSpPr>
          <p:cNvPr id="14" name="Store Cache"/>
          <p:cNvSpPr txBox="1"/>
          <p:nvPr/>
        </p:nvSpPr>
        <p:spPr>
          <a:xfrm>
            <a:off x="7178040" y="2505456"/>
            <a:ext cx="1280160" cy="493776"/>
          </a:xfrm>
          <a:prstGeom prst="roundRect">
            <a:avLst>
              <a:gd name="adj" fmla="val 11111"/>
            </a:avLst>
          </a:prstGeom>
          <a:solidFill>
            <a:schemeClr val="accent3"/>
          </a:solidFill>
          <a:ln/>
        </p:spPr>
        <p:txBody>
          <a:bodyPr wrap="square" lIns="381" tIns="381" rIns="381" bIns="381" rtlCol="0" anchor="ctr"/>
          <a:lstStyle/>
          <a:p>
            <a:pPr marL="0" indent="0" algn="ctr">
              <a:buNone/>
            </a:pPr>
            <a:r>
              <a:rPr lang="en-US" sz="1300" b="1" dirty="0">
                <a:solidFill>
                  <a:schemeClr val="bg1"/>
                </a:solidFill>
              </a:rPr>
              <a:t>Cache</a:t>
            </a:r>
            <a:endParaRPr lang="en-US" sz="1300" dirty="0"/>
          </a:p>
          <a:p>
            <a:pPr marL="0" indent="0" algn="ctr">
              <a:buNone/>
            </a:pPr>
            <a:r>
              <a:rPr lang="en-US" sz="1000" dirty="0">
                <a:solidFill>
                  <a:schemeClr val="bg1"/>
                </a:solidFill>
              </a:rPr>
              <a:t>ElastiCache</a:t>
            </a:r>
            <a:endParaRPr lang="en-US" sz="1300" dirty="0"/>
          </a:p>
        </p:txBody>
      </p:sp>
      <p:sp>
        <p:nvSpPr>
          <p:cNvPr id="15" name="Store Photos"/>
          <p:cNvSpPr txBox="1"/>
          <p:nvPr/>
        </p:nvSpPr>
        <p:spPr>
          <a:xfrm>
            <a:off x="7178040" y="3090672"/>
            <a:ext cx="1280160" cy="493776"/>
          </a:xfrm>
          <a:prstGeom prst="roundRect">
            <a:avLst>
              <a:gd name="adj" fmla="val 11111"/>
            </a:avLst>
          </a:prstGeom>
          <a:solidFill>
            <a:schemeClr val="accent3"/>
          </a:solidFill>
          <a:ln/>
        </p:spPr>
        <p:txBody>
          <a:bodyPr wrap="square" lIns="381" tIns="381" rIns="381" bIns="381" rtlCol="0" anchor="ctr"/>
          <a:lstStyle/>
          <a:p>
            <a:pPr marL="0" indent="0" algn="ctr">
              <a:buNone/>
            </a:pPr>
            <a:r>
              <a:rPr lang="en-US" sz="1300" b="1" dirty="0">
                <a:solidFill>
                  <a:schemeClr val="bg1"/>
                </a:solidFill>
              </a:rPr>
              <a:t>Photos</a:t>
            </a:r>
            <a:endParaRPr lang="en-US" sz="1300" dirty="0"/>
          </a:p>
          <a:p>
            <a:pPr marL="0" indent="0" algn="ctr">
              <a:buNone/>
            </a:pPr>
            <a:r>
              <a:rPr lang="en-US" sz="1000" dirty="0">
                <a:solidFill>
                  <a:schemeClr val="bg1"/>
                </a:solidFill>
              </a:rPr>
              <a:t>S3</a:t>
            </a:r>
            <a:endParaRPr lang="en-US" sz="1300" dirty="0"/>
          </a:p>
        </p:txBody>
      </p:sp>
      <p:sp>
        <p:nvSpPr>
          <p:cNvPr id="16" name="Store Queue"/>
          <p:cNvSpPr txBox="1"/>
          <p:nvPr/>
        </p:nvSpPr>
        <p:spPr>
          <a:xfrm>
            <a:off x="7178040" y="3675888"/>
            <a:ext cx="1280160" cy="493776"/>
          </a:xfrm>
          <a:prstGeom prst="roundRect">
            <a:avLst>
              <a:gd name="adj" fmla="val 11111"/>
            </a:avLst>
          </a:prstGeom>
          <a:solidFill>
            <a:schemeClr val="accent3"/>
          </a:solidFill>
          <a:ln/>
        </p:spPr>
        <p:txBody>
          <a:bodyPr wrap="square" lIns="381" tIns="381" rIns="381" bIns="381" rtlCol="0" anchor="ctr"/>
          <a:lstStyle/>
          <a:p>
            <a:pPr marL="0" indent="0" algn="ctr">
              <a:buNone/>
            </a:pPr>
            <a:r>
              <a:rPr lang="en-US" sz="1300" b="1" dirty="0">
                <a:solidFill>
                  <a:schemeClr val="bg1"/>
                </a:solidFill>
              </a:rPr>
              <a:t>Queue</a:t>
            </a:r>
            <a:endParaRPr lang="en-US" sz="1300" dirty="0"/>
          </a:p>
          <a:p>
            <a:pPr marL="0" indent="0" algn="ctr">
              <a:buNone/>
            </a:pPr>
            <a:r>
              <a:rPr lang="en-US" sz="1000" dirty="0">
                <a:solidFill>
                  <a:schemeClr val="bg1"/>
                </a:solidFill>
              </a:rPr>
              <a:t>SQS</a:t>
            </a:r>
            <a:endParaRPr lang="en-US" sz="1300" dirty="0"/>
          </a:p>
        </p:txBody>
      </p:sp>
      <p:sp>
        <p:nvSpPr>
          <p:cNvPr id="17" name="Users"/>
          <p:cNvSpPr txBox="1"/>
          <p:nvPr/>
        </p:nvSpPr>
        <p:spPr>
          <a:xfrm>
            <a:off x="457200" y="2651760"/>
            <a:ext cx="1097280" cy="594360"/>
          </a:xfrm>
          <a:prstGeom prst="roundRect">
            <a:avLst>
              <a:gd name="adj" fmla="val 9231"/>
            </a:avLst>
          </a:prstGeom>
          <a:solidFill>
            <a:schemeClr val="bg1"/>
          </a:solidFill>
          <a:ln w="15875">
            <a:solidFill>
              <a:schemeClr val="accent4"/>
            </a:solidFill>
          </a:ln>
        </p:spPr>
        <p:txBody>
          <a:bodyPr wrap="square" lIns="381" tIns="381" rIns="381" bIns="381" rtlCol="0" anchor="ctr"/>
          <a:lstStyle/>
          <a:p>
            <a:pPr marL="0" indent="0" algn="ctr">
              <a:buNone/>
            </a:pPr>
            <a:r>
              <a:rPr lang="en-US" sz="1300" b="1" dirty="0">
                <a:solidFill>
                  <a:schemeClr val="tx1"/>
                </a:solidFill>
              </a:rPr>
              <a:t>Users</a:t>
            </a:r>
            <a:endParaRPr lang="en-US" sz="1300" dirty="0"/>
          </a:p>
          <a:p>
            <a:pPr marL="0" indent="0" algn="ctr">
              <a:buNone/>
            </a:pPr>
            <a:r>
              <a:rPr lang="en-US" sz="1000" dirty="0">
                <a:solidFill>
                  <a:schemeClr val="tx1"/>
                </a:solidFill>
              </a:rPr>
              <a:t>on the internet</a:t>
            </a:r>
            <a:endParaRPr lang="en-US" sz="1300" dirty="0"/>
          </a:p>
        </p:txBody>
      </p:sp>
      <p:sp>
        <p:nvSpPr>
          <p:cNvPr id="18" name="Website"/>
          <p:cNvSpPr txBox="1"/>
          <p:nvPr/>
        </p:nvSpPr>
        <p:spPr>
          <a:xfrm>
            <a:off x="1874520" y="1371600"/>
            <a:ext cx="1417320" cy="594360"/>
          </a:xfrm>
          <a:prstGeom prst="roundRect">
            <a:avLst>
              <a:gd name="adj" fmla="val 9231"/>
            </a:avLst>
          </a:prstGeom>
          <a:solidFill>
            <a:schemeClr val="bg1"/>
          </a:solidFill>
          <a:ln w="15875">
            <a:solidFill>
              <a:schemeClr val="accent4"/>
            </a:solidFill>
          </a:ln>
        </p:spPr>
        <p:txBody>
          <a:bodyPr wrap="square" lIns="381" tIns="381" rIns="381" bIns="381" rtlCol="0" anchor="ctr"/>
          <a:lstStyle/>
          <a:p>
            <a:pPr marL="0" indent="0" algn="ctr">
              <a:buNone/>
            </a:pPr>
            <a:r>
              <a:rPr lang="en-US" sz="1300" b="1" dirty="0">
                <a:solidFill>
                  <a:schemeClr val="tx1"/>
                </a:solidFill>
              </a:rPr>
              <a:t>Website</a:t>
            </a:r>
            <a:endParaRPr lang="en-US" sz="1300" dirty="0"/>
          </a:p>
          <a:p>
            <a:pPr marL="0" indent="0" algn="ctr">
              <a:buNone/>
            </a:pPr>
            <a:r>
              <a:rPr lang="en-US" sz="1000" dirty="0">
                <a:solidFill>
                  <a:schemeClr val="tx1"/>
                </a:solidFill>
              </a:rPr>
              <a:t>CloudFront + S3</a:t>
            </a:r>
            <a:endParaRPr lang="en-US" sz="1300" dirty="0"/>
          </a:p>
        </p:txBody>
      </p:sp>
      <p:sp>
        <p:nvSpPr>
          <p:cNvPr id="19" name="Load balancer"/>
          <p:cNvSpPr txBox="1"/>
          <p:nvPr/>
        </p:nvSpPr>
        <p:spPr>
          <a:xfrm>
            <a:off x="1874520" y="2651760"/>
            <a:ext cx="1417320" cy="594360"/>
          </a:xfrm>
          <a:prstGeom prst="roundRect">
            <a:avLst>
              <a:gd name="adj" fmla="val 9231"/>
            </a:avLst>
          </a:prstGeom>
          <a:solidFill>
            <a:schemeClr val="bg1"/>
          </a:solidFill>
          <a:ln w="15875">
            <a:solidFill>
              <a:schemeClr val="accent4"/>
            </a:solidFill>
          </a:ln>
        </p:spPr>
        <p:txBody>
          <a:bodyPr wrap="square" lIns="381" tIns="381" rIns="381" bIns="381" rtlCol="0" anchor="ctr"/>
          <a:lstStyle/>
          <a:p>
            <a:pPr marL="0" indent="0" algn="ctr">
              <a:buNone/>
            </a:pPr>
            <a:r>
              <a:rPr lang="en-US" sz="1300" b="1" dirty="0">
                <a:solidFill>
                  <a:schemeClr val="tx1"/>
                </a:solidFill>
              </a:rPr>
              <a:t>Load balancer</a:t>
            </a:r>
            <a:endParaRPr lang="en-US" sz="1300" dirty="0"/>
          </a:p>
          <a:p>
            <a:pPr marL="0" indent="0" algn="ctr">
              <a:buNone/>
            </a:pPr>
            <a:r>
              <a:rPr lang="en-US" sz="1000" dirty="0">
                <a:solidFill>
                  <a:schemeClr val="tx1"/>
                </a:solidFill>
              </a:rPr>
              <a:t>the one door</a:t>
            </a:r>
            <a:endParaRPr lang="en-US" sz="1300" dirty="0"/>
          </a:p>
        </p:txBody>
      </p:sp>
      <p:sp>
        <p:nvSpPr>
          <p:cNvPr id="20" name="Gateway"/>
          <p:cNvSpPr txBox="1"/>
          <p:nvPr/>
        </p:nvSpPr>
        <p:spPr>
          <a:xfrm>
            <a:off x="3794760" y="2651760"/>
            <a:ext cx="1188720" cy="594360"/>
          </a:xfrm>
          <a:prstGeom prst="roundRect">
            <a:avLst>
              <a:gd name="adj" fmla="val 9231"/>
            </a:avLst>
          </a:prstGeom>
          <a:solidFill>
            <a:schemeClr val="accent2"/>
          </a:solidFill>
          <a:ln/>
        </p:spPr>
        <p:txBody>
          <a:bodyPr wrap="square" lIns="381" tIns="381" rIns="381" bIns="381" rtlCol="0" anchor="ctr"/>
          <a:lstStyle/>
          <a:p>
            <a:pPr marL="0" indent="0" algn="ctr">
              <a:buNone/>
            </a:pPr>
            <a:r>
              <a:rPr lang="en-US" sz="1300" b="1" dirty="0">
                <a:solidFill>
                  <a:schemeClr val="bg1"/>
                </a:solidFill>
              </a:rPr>
              <a:t>Gateway</a:t>
            </a:r>
            <a:endParaRPr lang="en-US" sz="1300" dirty="0"/>
          </a:p>
          <a:p>
            <a:pPr marL="0" indent="0" algn="ctr">
              <a:buNone/>
            </a:pPr>
            <a:r>
              <a:rPr lang="en-US" sz="1000" dirty="0">
                <a:solidFill>
                  <a:schemeClr val="bg1"/>
                </a:solidFill>
              </a:rPr>
              <a:t>front door</a:t>
            </a:r>
            <a:endParaRPr lang="en-US" sz="1300" dirty="0"/>
          </a:p>
        </p:txBody>
      </p:sp>
      <p:sp>
        <p:nvSpPr>
          <p:cNvPr id="21" name="Users to load balancer"/>
          <p:cNvSpPr/>
          <p:nvPr/>
        </p:nvSpPr>
        <p:spPr>
          <a:xfrm>
            <a:off x="1554480" y="2948940"/>
            <a:ext cx="320040" cy="0"/>
          </a:xfrm>
          <a:prstGeom prst="line">
            <a:avLst/>
          </a:prstGeom>
          <a:noFill/>
          <a:ln w="22225">
            <a:solidFill>
              <a:schemeClr val="accent4"/>
            </a:solidFill>
            <a:prstDash val="solid"/>
            <a:tailEnd type="triangle"/>
          </a:ln>
        </p:spPr>
      </p:sp>
      <p:sp>
        <p:nvSpPr>
          <p:cNvPr id="22" name="Load balancer to gateway"/>
          <p:cNvSpPr/>
          <p:nvPr/>
        </p:nvSpPr>
        <p:spPr>
          <a:xfrm>
            <a:off x="3291840" y="2948940"/>
            <a:ext cx="502920" cy="0"/>
          </a:xfrm>
          <a:prstGeom prst="line">
            <a:avLst/>
          </a:prstGeom>
          <a:noFill/>
          <a:ln w="22225">
            <a:solidFill>
              <a:schemeClr val="accent4"/>
            </a:solidFill>
            <a:prstDash val="solid"/>
            <a:tailEnd type="triangle"/>
          </a:ln>
        </p:spPr>
      </p:sp>
      <p:sp>
        <p:nvSpPr>
          <p:cNvPr id="23" name="Gateway to app parts"/>
          <p:cNvSpPr/>
          <p:nvPr/>
        </p:nvSpPr>
        <p:spPr>
          <a:xfrm>
            <a:off x="4983480" y="2948940"/>
            <a:ext cx="365760" cy="0"/>
          </a:xfrm>
          <a:prstGeom prst="line">
            <a:avLst/>
          </a:prstGeom>
          <a:noFill/>
          <a:ln w="22225">
            <a:solidFill>
              <a:schemeClr val="accent4"/>
            </a:solidFill>
            <a:prstDash val="solid"/>
            <a:tailEnd type="triangle"/>
          </a:ln>
        </p:spPr>
      </p:sp>
      <p:sp>
        <p:nvSpPr>
          <p:cNvPr id="24" name="App parts to data"/>
          <p:cNvSpPr/>
          <p:nvPr/>
        </p:nvSpPr>
        <p:spPr>
          <a:xfrm>
            <a:off x="6812280" y="2948940"/>
            <a:ext cx="274320" cy="0"/>
          </a:xfrm>
          <a:prstGeom prst="line">
            <a:avLst/>
          </a:prstGeom>
          <a:noFill/>
          <a:ln w="22225">
            <a:solidFill>
              <a:schemeClr val="accent4"/>
            </a:solidFill>
            <a:prstDash val="solid"/>
            <a:tailEnd type="triangle"/>
          </a:ln>
        </p:spPr>
      </p:sp>
      <p:sp>
        <p:nvSpPr>
          <p:cNvPr id="25" name="Users to website"/>
          <p:cNvSpPr/>
          <p:nvPr/>
        </p:nvSpPr>
        <p:spPr>
          <a:xfrm flipV="1">
            <a:off x="1234440" y="1965960"/>
            <a:ext cx="640080" cy="685800"/>
          </a:xfrm>
          <a:prstGeom prst="line">
            <a:avLst/>
          </a:prstGeom>
          <a:noFill/>
          <a:ln w="22225">
            <a:solidFill>
              <a:schemeClr val="accent4"/>
            </a:solidFill>
            <a:prstDash val="solid"/>
            <a:tailEnd type="triangle"/>
          </a:ln>
        </p:spPr>
      </p:sp>
      <p:sp>
        <p:nvSpPr>
          <p:cNvPr id="26" name="Diagram caption"/>
          <p:cNvSpPr txBox="1"/>
          <p:nvPr/>
        </p:nvSpPr>
        <p:spPr>
          <a:xfrm>
            <a:off x="457200" y="4526280"/>
            <a:ext cx="7589520" cy="320040"/>
          </a:xfrm>
          <a:prstGeom prst="rect">
            <a:avLst/>
          </a:prstGeom>
          <a:noFill/>
          <a:ln/>
        </p:spPr>
        <p:txBody>
          <a:bodyPr wrap="square" lIns="0" tIns="0" rIns="0" bIns="0" rtlCol="0" anchor="ctr"/>
          <a:lstStyle/>
          <a:p>
            <a:pPr marL="0" indent="0">
              <a:buNone/>
            </a:pPr>
            <a:r>
              <a:rPr lang="en-US" sz="1200" i="1" dirty="0">
                <a:solidFill>
                  <a:schemeClr val="accent4"/>
                </a:solidFill>
              </a:rPr>
              <a:t>Nothing inside the private network can be reached from the internet directly.</a:t>
            </a:r>
            <a:endParaRPr lang="en-US" sz="1200" dirty="0"/>
          </a:p>
        </p:txBody>
      </p:sp>
      <p:sp>
        <p:nvSpPr>
          <p:cNvPr id="27"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Six steps to deploy</a:t>
            </a:r>
            <a:endParaRPr lang="en-US" sz="3000" dirty="0"/>
          </a:p>
        </p:txBody>
      </p:sp>
      <p:sp>
        <p:nvSpPr>
          <p:cNvPr id="3" name="Step 1 badge"/>
          <p:cNvSpPr txBox="1"/>
          <p:nvPr/>
        </p:nvSpPr>
        <p:spPr>
          <a:xfrm>
            <a:off x="457200" y="1325880"/>
            <a:ext cx="502920" cy="50292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4" name="Step 1 title"/>
          <p:cNvSpPr txBox="1"/>
          <p:nvPr/>
        </p:nvSpPr>
        <p:spPr>
          <a:xfrm>
            <a:off x="1143000" y="1280160"/>
            <a:ext cx="3337560" cy="310896"/>
          </a:xfrm>
          <a:prstGeom prst="rect">
            <a:avLst/>
          </a:prstGeom>
          <a:noFill/>
          <a:ln/>
        </p:spPr>
        <p:txBody>
          <a:bodyPr wrap="square" lIns="0" tIns="0" rIns="0" bIns="0" rtlCol="0" anchor="ctr"/>
          <a:lstStyle/>
          <a:p>
            <a:pPr marL="0" indent="0">
              <a:buNone/>
            </a:pPr>
            <a:r>
              <a:rPr lang="en-US" sz="1600" b="1" dirty="0">
                <a:solidFill>
                  <a:schemeClr val="tx2"/>
                </a:solidFill>
              </a:rPr>
              <a:t>Pack</a:t>
            </a:r>
            <a:endParaRPr lang="en-US" sz="1600" dirty="0"/>
          </a:p>
        </p:txBody>
      </p:sp>
      <p:sp>
        <p:nvSpPr>
          <p:cNvPr id="5" name="Step 1 text"/>
          <p:cNvSpPr txBox="1"/>
          <p:nvPr/>
        </p:nvSpPr>
        <p:spPr>
          <a:xfrm>
            <a:off x="1143000" y="1609344"/>
            <a:ext cx="3337560" cy="512064"/>
          </a:xfrm>
          <a:prstGeom prst="rect">
            <a:avLst/>
          </a:prstGeom>
          <a:noFill/>
          <a:ln/>
        </p:spPr>
        <p:txBody>
          <a:bodyPr wrap="square" lIns="0" tIns="0" rIns="0" bIns="0" rtlCol="0" anchor="t"/>
          <a:lstStyle/>
          <a:p>
            <a:pPr marL="0" indent="0">
              <a:buNone/>
            </a:pPr>
            <a:r>
              <a:rPr lang="en-US" sz="1400" dirty="0">
                <a:solidFill>
                  <a:schemeClr val="tx1"/>
                </a:solidFill>
              </a:rPr>
              <a:t>Put each part in a container and upload it to ECR</a:t>
            </a:r>
            <a:endParaRPr lang="en-US" sz="1400" dirty="0"/>
          </a:p>
        </p:txBody>
      </p:sp>
      <p:sp>
        <p:nvSpPr>
          <p:cNvPr id="6" name="Step 2 badge"/>
          <p:cNvSpPr txBox="1"/>
          <p:nvPr/>
        </p:nvSpPr>
        <p:spPr>
          <a:xfrm>
            <a:off x="4663440" y="1325880"/>
            <a:ext cx="502920" cy="50292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7" name="Step 2 title"/>
          <p:cNvSpPr txBox="1"/>
          <p:nvPr/>
        </p:nvSpPr>
        <p:spPr>
          <a:xfrm>
            <a:off x="5349240" y="1280160"/>
            <a:ext cx="3337560" cy="310896"/>
          </a:xfrm>
          <a:prstGeom prst="rect">
            <a:avLst/>
          </a:prstGeom>
          <a:noFill/>
          <a:ln/>
        </p:spPr>
        <p:txBody>
          <a:bodyPr wrap="square" lIns="0" tIns="0" rIns="0" bIns="0" rtlCol="0" anchor="ctr"/>
          <a:lstStyle/>
          <a:p>
            <a:pPr marL="0" indent="0">
              <a:buNone/>
            </a:pPr>
            <a:r>
              <a:rPr lang="en-US" sz="1600" b="1" dirty="0">
                <a:solidFill>
                  <a:schemeClr val="tx2"/>
                </a:solidFill>
              </a:rPr>
              <a:t>Network</a:t>
            </a:r>
            <a:endParaRPr lang="en-US" sz="1600" dirty="0"/>
          </a:p>
        </p:txBody>
      </p:sp>
      <p:sp>
        <p:nvSpPr>
          <p:cNvPr id="8" name="Step 2 text"/>
          <p:cNvSpPr txBox="1"/>
          <p:nvPr/>
        </p:nvSpPr>
        <p:spPr>
          <a:xfrm>
            <a:off x="5349240" y="1609344"/>
            <a:ext cx="3337560" cy="512064"/>
          </a:xfrm>
          <a:prstGeom prst="rect">
            <a:avLst/>
          </a:prstGeom>
          <a:noFill/>
          <a:ln/>
        </p:spPr>
        <p:txBody>
          <a:bodyPr wrap="square" lIns="0" tIns="0" rIns="0" bIns="0" rtlCol="0" anchor="t"/>
          <a:lstStyle/>
          <a:p>
            <a:pPr marL="0" indent="0">
              <a:buNone/>
            </a:pPr>
            <a:r>
              <a:rPr lang="en-US" sz="1400" dirty="0">
                <a:solidFill>
                  <a:schemeClr val="tx1"/>
                </a:solidFill>
              </a:rPr>
              <a:t>Create the private network</a:t>
            </a:r>
            <a:endParaRPr lang="en-US" sz="1400" dirty="0"/>
          </a:p>
        </p:txBody>
      </p:sp>
      <p:sp>
        <p:nvSpPr>
          <p:cNvPr id="9" name="Step 3 badge"/>
          <p:cNvSpPr txBox="1"/>
          <p:nvPr/>
        </p:nvSpPr>
        <p:spPr>
          <a:xfrm>
            <a:off x="457200" y="2313432"/>
            <a:ext cx="502920" cy="50292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0" name="Step 3 title"/>
          <p:cNvSpPr txBox="1"/>
          <p:nvPr/>
        </p:nvSpPr>
        <p:spPr>
          <a:xfrm>
            <a:off x="1143000" y="2267712"/>
            <a:ext cx="3337560" cy="310896"/>
          </a:xfrm>
          <a:prstGeom prst="rect">
            <a:avLst/>
          </a:prstGeom>
          <a:noFill/>
          <a:ln/>
        </p:spPr>
        <p:txBody>
          <a:bodyPr wrap="square" lIns="0" tIns="0" rIns="0" bIns="0" rtlCol="0" anchor="ctr"/>
          <a:lstStyle/>
          <a:p>
            <a:pPr marL="0" indent="0">
              <a:buNone/>
            </a:pPr>
            <a:r>
              <a:rPr lang="en-US" sz="1600" b="1" dirty="0">
                <a:solidFill>
                  <a:schemeClr val="tx2"/>
                </a:solidFill>
              </a:rPr>
              <a:t>Data</a:t>
            </a:r>
            <a:endParaRPr lang="en-US" sz="1600" dirty="0"/>
          </a:p>
        </p:txBody>
      </p:sp>
      <p:sp>
        <p:nvSpPr>
          <p:cNvPr id="11" name="Step 3 text"/>
          <p:cNvSpPr txBox="1"/>
          <p:nvPr/>
        </p:nvSpPr>
        <p:spPr>
          <a:xfrm>
            <a:off x="1143000" y="2596896"/>
            <a:ext cx="3337560" cy="512064"/>
          </a:xfrm>
          <a:prstGeom prst="rect">
            <a:avLst/>
          </a:prstGeom>
          <a:noFill/>
          <a:ln/>
        </p:spPr>
        <p:txBody>
          <a:bodyPr wrap="square" lIns="0" tIns="0" rIns="0" bIns="0" rtlCol="0" anchor="t"/>
          <a:lstStyle/>
          <a:p>
            <a:pPr marL="0" indent="0">
              <a:buNone/>
            </a:pPr>
            <a:r>
              <a:rPr lang="en-US" sz="1400" dirty="0">
                <a:solidFill>
                  <a:schemeClr val="tx1"/>
                </a:solidFill>
              </a:rPr>
              <a:t>Create the database and the cache inside that network</a:t>
            </a:r>
            <a:endParaRPr lang="en-US" sz="1400" dirty="0"/>
          </a:p>
        </p:txBody>
      </p:sp>
      <p:sp>
        <p:nvSpPr>
          <p:cNvPr id="12" name="Step 4 badge"/>
          <p:cNvSpPr txBox="1"/>
          <p:nvPr/>
        </p:nvSpPr>
        <p:spPr>
          <a:xfrm>
            <a:off x="4663440" y="2313432"/>
            <a:ext cx="502920" cy="50292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3" name="Step 4 title"/>
          <p:cNvSpPr txBox="1"/>
          <p:nvPr/>
        </p:nvSpPr>
        <p:spPr>
          <a:xfrm>
            <a:off x="5349240" y="2267712"/>
            <a:ext cx="3337560" cy="310896"/>
          </a:xfrm>
          <a:prstGeom prst="rect">
            <a:avLst/>
          </a:prstGeom>
          <a:noFill/>
          <a:ln/>
        </p:spPr>
        <p:txBody>
          <a:bodyPr wrap="square" lIns="0" tIns="0" rIns="0" bIns="0" rtlCol="0" anchor="ctr"/>
          <a:lstStyle/>
          <a:p>
            <a:pPr marL="0" indent="0">
              <a:buNone/>
            </a:pPr>
            <a:r>
              <a:rPr lang="en-US" sz="1600" b="1" dirty="0">
                <a:solidFill>
                  <a:schemeClr val="tx2"/>
                </a:solidFill>
              </a:rPr>
              <a:t>Secrets</a:t>
            </a:r>
            <a:endParaRPr lang="en-US" sz="1600" dirty="0"/>
          </a:p>
        </p:txBody>
      </p:sp>
      <p:sp>
        <p:nvSpPr>
          <p:cNvPr id="14" name="Step 4 text"/>
          <p:cNvSpPr txBox="1"/>
          <p:nvPr/>
        </p:nvSpPr>
        <p:spPr>
          <a:xfrm>
            <a:off x="5349240" y="2596896"/>
            <a:ext cx="3337560" cy="512064"/>
          </a:xfrm>
          <a:prstGeom prst="rect">
            <a:avLst/>
          </a:prstGeom>
          <a:noFill/>
          <a:ln/>
        </p:spPr>
        <p:txBody>
          <a:bodyPr wrap="square" lIns="0" tIns="0" rIns="0" bIns="0" rtlCol="0" anchor="t"/>
          <a:lstStyle/>
          <a:p>
            <a:pPr marL="0" indent="0">
              <a:buNone/>
            </a:pPr>
            <a:r>
              <a:rPr lang="en-US" sz="1400" dirty="0">
                <a:solidFill>
                  <a:schemeClr val="tx1"/>
                </a:solidFill>
              </a:rPr>
              <a:t>Put all passwords and keys in Secrets Manager</a:t>
            </a:r>
            <a:endParaRPr lang="en-US" sz="1400" dirty="0"/>
          </a:p>
        </p:txBody>
      </p:sp>
      <p:sp>
        <p:nvSpPr>
          <p:cNvPr id="15" name="Step 5 badge"/>
          <p:cNvSpPr txBox="1"/>
          <p:nvPr/>
        </p:nvSpPr>
        <p:spPr>
          <a:xfrm>
            <a:off x="457200" y="3300984"/>
            <a:ext cx="502920" cy="50292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16" name="Step 5 title"/>
          <p:cNvSpPr txBox="1"/>
          <p:nvPr/>
        </p:nvSpPr>
        <p:spPr>
          <a:xfrm>
            <a:off x="1143000" y="3255264"/>
            <a:ext cx="3337560" cy="310896"/>
          </a:xfrm>
          <a:prstGeom prst="rect">
            <a:avLst/>
          </a:prstGeom>
          <a:noFill/>
          <a:ln/>
        </p:spPr>
        <p:txBody>
          <a:bodyPr wrap="square" lIns="0" tIns="0" rIns="0" bIns="0" rtlCol="0" anchor="ctr"/>
          <a:lstStyle/>
          <a:p>
            <a:pPr marL="0" indent="0">
              <a:buNone/>
            </a:pPr>
            <a:r>
              <a:rPr lang="en-US" sz="1600" b="1" dirty="0">
                <a:solidFill>
                  <a:schemeClr val="tx2"/>
                </a:solidFill>
              </a:rPr>
              <a:t>Run</a:t>
            </a:r>
            <a:endParaRPr lang="en-US" sz="1600" dirty="0"/>
          </a:p>
        </p:txBody>
      </p:sp>
      <p:sp>
        <p:nvSpPr>
          <p:cNvPr id="17" name="Step 5 text"/>
          <p:cNvSpPr txBox="1"/>
          <p:nvPr/>
        </p:nvSpPr>
        <p:spPr>
          <a:xfrm>
            <a:off x="1143000" y="3584448"/>
            <a:ext cx="3337560" cy="512064"/>
          </a:xfrm>
          <a:prstGeom prst="rect">
            <a:avLst/>
          </a:prstGeom>
          <a:noFill/>
          <a:ln/>
        </p:spPr>
        <p:txBody>
          <a:bodyPr wrap="square" lIns="0" tIns="0" rIns="0" bIns="0" rtlCol="0" anchor="t"/>
          <a:lstStyle/>
          <a:p>
            <a:pPr marL="0" indent="0">
              <a:buNone/>
            </a:pPr>
            <a:r>
              <a:rPr lang="en-US" sz="1400" dirty="0">
                <a:solidFill>
                  <a:schemeClr val="tx1"/>
                </a:solidFill>
              </a:rPr>
              <a:t>Start the containers on Fargate; connect only the Gateway to the load balancer</a:t>
            </a:r>
            <a:endParaRPr lang="en-US" sz="1400" dirty="0"/>
          </a:p>
        </p:txBody>
      </p:sp>
      <p:sp>
        <p:nvSpPr>
          <p:cNvPr id="18" name="Step 6 badge"/>
          <p:cNvSpPr txBox="1"/>
          <p:nvPr/>
        </p:nvSpPr>
        <p:spPr>
          <a:xfrm>
            <a:off x="4663440" y="3300984"/>
            <a:ext cx="502920" cy="50292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19" name="Step 6 title"/>
          <p:cNvSpPr txBox="1"/>
          <p:nvPr/>
        </p:nvSpPr>
        <p:spPr>
          <a:xfrm>
            <a:off x="5349240" y="3255264"/>
            <a:ext cx="3337560" cy="310896"/>
          </a:xfrm>
          <a:prstGeom prst="rect">
            <a:avLst/>
          </a:prstGeom>
          <a:noFill/>
          <a:ln/>
        </p:spPr>
        <p:txBody>
          <a:bodyPr wrap="square" lIns="0" tIns="0" rIns="0" bIns="0" rtlCol="0" anchor="ctr"/>
          <a:lstStyle/>
          <a:p>
            <a:pPr marL="0" indent="0">
              <a:buNone/>
            </a:pPr>
            <a:r>
              <a:rPr lang="en-US" sz="1600" b="1" dirty="0">
                <a:solidFill>
                  <a:schemeClr val="tx2"/>
                </a:solidFill>
              </a:rPr>
              <a:t>Website</a:t>
            </a:r>
            <a:endParaRPr lang="en-US" sz="1600" dirty="0"/>
          </a:p>
        </p:txBody>
      </p:sp>
      <p:sp>
        <p:nvSpPr>
          <p:cNvPr id="20" name="Step 6 text"/>
          <p:cNvSpPr txBox="1"/>
          <p:nvPr/>
        </p:nvSpPr>
        <p:spPr>
          <a:xfrm>
            <a:off x="5349240" y="3584448"/>
            <a:ext cx="3337560" cy="512064"/>
          </a:xfrm>
          <a:prstGeom prst="rect">
            <a:avLst/>
          </a:prstGeom>
          <a:noFill/>
          <a:ln/>
        </p:spPr>
        <p:txBody>
          <a:bodyPr wrap="square" lIns="0" tIns="0" rIns="0" bIns="0" rtlCol="0" anchor="t"/>
          <a:lstStyle/>
          <a:p>
            <a:pPr marL="0" indent="0">
              <a:buNone/>
            </a:pPr>
            <a:r>
              <a:rPr lang="en-US" sz="1400" dirty="0">
                <a:solidFill>
                  <a:schemeClr val="tx1"/>
                </a:solidFill>
              </a:rPr>
              <a:t>Build the website and upload it to S3, with CloudFront in front</a:t>
            </a:r>
            <a:endParaRPr lang="en-US" sz="1400" dirty="0"/>
          </a:p>
        </p:txBody>
      </p:sp>
      <p:sp>
        <p:nvSpPr>
          <p:cNvPr id="21" name="Pipeline note"/>
          <p:cNvSpPr txBox="1"/>
          <p:nvPr/>
        </p:nvSpPr>
        <p:spPr>
          <a:xfrm>
            <a:off x="457200" y="4224528"/>
            <a:ext cx="8229600" cy="457200"/>
          </a:xfrm>
          <a:prstGeom prst="roundRect">
            <a:avLst>
              <a:gd name="adj" fmla="val 16000"/>
            </a:avLst>
          </a:prstGeom>
          <a:solidFill>
            <a:schemeClr val="bg2"/>
          </a:solidFill>
          <a:ln/>
        </p:spPr>
        <p:txBody>
          <a:bodyPr wrap="square" lIns="635" tIns="635" rIns="635" bIns="635" rtlCol="0" anchor="ctr"/>
          <a:lstStyle/>
          <a:p>
            <a:pPr marL="0" indent="0" algn="ctr">
              <a:buNone/>
            </a:pPr>
            <a:r>
              <a:rPr lang="en-US" sz="1400" b="1" dirty="0">
                <a:solidFill>
                  <a:schemeClr val="tx2"/>
                </a:solidFill>
              </a:rPr>
              <a:t>First time by hand, to learn each step. After that, a pipeline deploys every code push.</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Six things to fix before deploying</a:t>
            </a:r>
            <a:endParaRPr lang="en-US" sz="3000" dirty="0"/>
          </a:p>
        </p:txBody>
      </p:sp>
      <p:sp>
        <p:nvSpPr>
          <p:cNvPr id="3" name="Today label"/>
          <p:cNvSpPr txBox="1"/>
          <p:nvPr/>
        </p:nvSpPr>
        <p:spPr>
          <a:xfrm>
            <a:off x="457200" y="1051560"/>
            <a:ext cx="3931920" cy="256032"/>
          </a:xfrm>
          <a:prstGeom prst="rect">
            <a:avLst/>
          </a:prstGeom>
          <a:noFill/>
          <a:ln/>
        </p:spPr>
        <p:txBody>
          <a:bodyPr wrap="square" lIns="0" tIns="0" rIns="0" bIns="0" rtlCol="0" anchor="ctr"/>
          <a:lstStyle/>
          <a:p>
            <a:pPr marL="0" indent="0">
              <a:buNone/>
            </a:pPr>
            <a:r>
              <a:rPr lang="en-US" sz="1200" b="1" dirty="0">
                <a:solidFill>
                  <a:schemeClr val="accent4"/>
                </a:solidFill>
              </a:rPr>
              <a:t>Today</a:t>
            </a:r>
            <a:endParaRPr lang="en-US" sz="1200" dirty="0"/>
          </a:p>
        </p:txBody>
      </p:sp>
      <p:sp>
        <p:nvSpPr>
          <p:cNvPr id="4" name="Change label"/>
          <p:cNvSpPr txBox="1"/>
          <p:nvPr/>
        </p:nvSpPr>
        <p:spPr>
          <a:xfrm>
            <a:off x="4754880" y="1051560"/>
            <a:ext cx="3931920" cy="256032"/>
          </a:xfrm>
          <a:prstGeom prst="rect">
            <a:avLst/>
          </a:prstGeom>
          <a:noFill/>
          <a:ln/>
        </p:spPr>
        <p:txBody>
          <a:bodyPr wrap="square" lIns="0" tIns="0" rIns="0" bIns="0" rtlCol="0" anchor="ctr"/>
          <a:lstStyle/>
          <a:p>
            <a:pPr marL="0" indent="0">
              <a:buNone/>
            </a:pPr>
            <a:r>
              <a:rPr lang="en-US" sz="1200" b="1" dirty="0">
                <a:solidFill>
                  <a:schemeClr val="accent4"/>
                </a:solidFill>
              </a:rPr>
              <a:t>What changes</a:t>
            </a:r>
            <a:endParaRPr lang="en-US" sz="1200" dirty="0"/>
          </a:p>
        </p:txBody>
      </p:sp>
      <p:sp>
        <p:nvSpPr>
          <p:cNvPr id="5" name="Fix 1 today"/>
          <p:cNvSpPr txBox="1"/>
          <p:nvPr/>
        </p:nvSpPr>
        <p:spPr>
          <a:xfrm>
            <a:off x="457200" y="1353312"/>
            <a:ext cx="3931920" cy="429768"/>
          </a:xfrm>
          <a:prstGeom prst="roundRect">
            <a:avLst>
              <a:gd name="adj" fmla="val 12766"/>
            </a:avLst>
          </a:prstGeom>
          <a:solidFill>
            <a:schemeClr val="bg2"/>
          </a:solidFill>
          <a:ln/>
        </p:spPr>
        <p:txBody>
          <a:bodyPr wrap="square" lIns="114300" tIns="114300" rIns="114300" bIns="114300" rtlCol="0" anchor="ctr"/>
          <a:lstStyle/>
          <a:p>
            <a:pPr marL="0" indent="0">
              <a:buNone/>
            </a:pPr>
            <a:r>
              <a:rPr lang="en-US" sz="1400" dirty="0">
                <a:solidFill>
                  <a:schemeClr val="tx1"/>
                </a:solidFill>
              </a:rPr>
              <a:t>Storage and queue use Azure test tools</a:t>
            </a:r>
            <a:endParaRPr lang="en-US" sz="1400" dirty="0"/>
          </a:p>
        </p:txBody>
      </p:sp>
      <p:sp>
        <p:nvSpPr>
          <p:cNvPr id="6" name="Fix 1 arrow"/>
          <p:cNvSpPr/>
          <p:nvPr/>
        </p:nvSpPr>
        <p:spPr>
          <a:xfrm>
            <a:off x="4462272" y="1568196"/>
            <a:ext cx="219456" cy="0"/>
          </a:xfrm>
          <a:prstGeom prst="line">
            <a:avLst/>
          </a:prstGeom>
          <a:noFill/>
          <a:ln w="22225">
            <a:solidFill>
              <a:schemeClr val="accent4"/>
            </a:solidFill>
            <a:prstDash val="solid"/>
            <a:tailEnd type="triangle"/>
          </a:ln>
        </p:spPr>
      </p:sp>
      <p:sp>
        <p:nvSpPr>
          <p:cNvPr id="7" name="Fix 1 change"/>
          <p:cNvSpPr txBox="1"/>
          <p:nvPr/>
        </p:nvSpPr>
        <p:spPr>
          <a:xfrm>
            <a:off x="4754880" y="1353312"/>
            <a:ext cx="3931920" cy="429768"/>
          </a:xfrm>
          <a:prstGeom prst="roundRect">
            <a:avLst>
              <a:gd name="adj" fmla="val 12766"/>
            </a:avLst>
          </a:prstGeom>
          <a:solidFill>
            <a:schemeClr val="tx2"/>
          </a:solidFill>
          <a:ln/>
        </p:spPr>
        <p:txBody>
          <a:bodyPr wrap="square" lIns="114300" tIns="114300" rIns="114300" bIns="114300" rtlCol="0" anchor="ctr"/>
          <a:lstStyle/>
          <a:p>
            <a:pPr marL="0" indent="0">
              <a:buNone/>
            </a:pPr>
            <a:r>
              <a:rPr lang="en-US" sz="1400" b="1" dirty="0">
                <a:solidFill>
                  <a:schemeClr val="bg1"/>
                </a:solidFill>
              </a:rPr>
              <a:t>Change the code to use S3 and SQS</a:t>
            </a:r>
            <a:endParaRPr lang="en-US" sz="1400" dirty="0"/>
          </a:p>
        </p:txBody>
      </p:sp>
      <p:sp>
        <p:nvSpPr>
          <p:cNvPr id="8" name="Fix 2 today"/>
          <p:cNvSpPr txBox="1"/>
          <p:nvPr/>
        </p:nvSpPr>
        <p:spPr>
          <a:xfrm>
            <a:off x="457200" y="1874520"/>
            <a:ext cx="3931920" cy="429768"/>
          </a:xfrm>
          <a:prstGeom prst="roundRect">
            <a:avLst>
              <a:gd name="adj" fmla="val 12766"/>
            </a:avLst>
          </a:prstGeom>
          <a:solidFill>
            <a:schemeClr val="bg2"/>
          </a:solidFill>
          <a:ln/>
        </p:spPr>
        <p:txBody>
          <a:bodyPr wrap="square" lIns="114300" tIns="114300" rIns="114300" bIns="114300" rtlCol="0" anchor="ctr"/>
          <a:lstStyle/>
          <a:p>
            <a:pPr marL="0" indent="0">
              <a:buNone/>
            </a:pPr>
            <a:r>
              <a:rPr lang="en-US" sz="1400" dirty="0">
                <a:solidFill>
                  <a:schemeClr val="tx1"/>
                </a:solidFill>
              </a:rPr>
              <a:t>Gateway accepts only the laptop website</a:t>
            </a:r>
            <a:endParaRPr lang="en-US" sz="1400" dirty="0"/>
          </a:p>
        </p:txBody>
      </p:sp>
      <p:sp>
        <p:nvSpPr>
          <p:cNvPr id="9" name="Fix 2 arrow"/>
          <p:cNvSpPr/>
          <p:nvPr/>
        </p:nvSpPr>
        <p:spPr>
          <a:xfrm>
            <a:off x="4462272" y="2089404"/>
            <a:ext cx="219456" cy="0"/>
          </a:xfrm>
          <a:prstGeom prst="line">
            <a:avLst/>
          </a:prstGeom>
          <a:noFill/>
          <a:ln w="22225">
            <a:solidFill>
              <a:schemeClr val="accent4"/>
            </a:solidFill>
            <a:prstDash val="solid"/>
            <a:tailEnd type="triangle"/>
          </a:ln>
        </p:spPr>
      </p:sp>
      <p:sp>
        <p:nvSpPr>
          <p:cNvPr id="10" name="Fix 2 change"/>
          <p:cNvSpPr txBox="1"/>
          <p:nvPr/>
        </p:nvSpPr>
        <p:spPr>
          <a:xfrm>
            <a:off x="4754880" y="1874520"/>
            <a:ext cx="3931920" cy="429768"/>
          </a:xfrm>
          <a:prstGeom prst="roundRect">
            <a:avLst>
              <a:gd name="adj" fmla="val 12766"/>
            </a:avLst>
          </a:prstGeom>
          <a:solidFill>
            <a:schemeClr val="tx2"/>
          </a:solidFill>
          <a:ln/>
        </p:spPr>
        <p:txBody>
          <a:bodyPr wrap="square" lIns="114300" tIns="114300" rIns="114300" bIns="114300" rtlCol="0" anchor="ctr"/>
          <a:lstStyle/>
          <a:p>
            <a:pPr marL="0" indent="0">
              <a:buNone/>
            </a:pPr>
            <a:r>
              <a:rPr lang="en-US" sz="1400" b="1" dirty="0">
                <a:solidFill>
                  <a:schemeClr val="bg1"/>
                </a:solidFill>
              </a:rPr>
              <a:t>Accept the real website address</a:t>
            </a:r>
            <a:endParaRPr lang="en-US" sz="1400" dirty="0"/>
          </a:p>
        </p:txBody>
      </p:sp>
      <p:sp>
        <p:nvSpPr>
          <p:cNvPr id="11" name="Fix 3 today"/>
          <p:cNvSpPr txBox="1"/>
          <p:nvPr/>
        </p:nvSpPr>
        <p:spPr>
          <a:xfrm>
            <a:off x="457200" y="2395728"/>
            <a:ext cx="3931920" cy="429768"/>
          </a:xfrm>
          <a:prstGeom prst="roundRect">
            <a:avLst>
              <a:gd name="adj" fmla="val 12766"/>
            </a:avLst>
          </a:prstGeom>
          <a:solidFill>
            <a:schemeClr val="bg2"/>
          </a:solidFill>
          <a:ln/>
        </p:spPr>
        <p:txBody>
          <a:bodyPr wrap="square" lIns="114300" tIns="114300" rIns="114300" bIns="114300" rtlCol="0" anchor="ctr"/>
          <a:lstStyle/>
          <a:p>
            <a:pPr marL="0" indent="0">
              <a:buNone/>
            </a:pPr>
            <a:r>
              <a:rPr lang="en-US" sz="1400" dirty="0">
                <a:solidFill>
                  <a:schemeClr val="tx1"/>
                </a:solidFill>
              </a:rPr>
              <a:t>Parts use laptop-only addresses</a:t>
            </a:r>
            <a:endParaRPr lang="en-US" sz="1400" dirty="0"/>
          </a:p>
        </p:txBody>
      </p:sp>
      <p:sp>
        <p:nvSpPr>
          <p:cNvPr id="12" name="Fix 3 arrow"/>
          <p:cNvSpPr/>
          <p:nvPr/>
        </p:nvSpPr>
        <p:spPr>
          <a:xfrm>
            <a:off x="4462272" y="2610612"/>
            <a:ext cx="219456" cy="0"/>
          </a:xfrm>
          <a:prstGeom prst="line">
            <a:avLst/>
          </a:prstGeom>
          <a:noFill/>
          <a:ln w="22225">
            <a:solidFill>
              <a:schemeClr val="accent4"/>
            </a:solidFill>
            <a:prstDash val="solid"/>
            <a:tailEnd type="triangle"/>
          </a:ln>
        </p:spPr>
      </p:sp>
      <p:sp>
        <p:nvSpPr>
          <p:cNvPr id="13" name="Fix 3 change"/>
          <p:cNvSpPr txBox="1"/>
          <p:nvPr/>
        </p:nvSpPr>
        <p:spPr>
          <a:xfrm>
            <a:off x="4754880" y="2395728"/>
            <a:ext cx="3931920" cy="429768"/>
          </a:xfrm>
          <a:prstGeom prst="roundRect">
            <a:avLst>
              <a:gd name="adj" fmla="val 12766"/>
            </a:avLst>
          </a:prstGeom>
          <a:solidFill>
            <a:schemeClr val="tx2"/>
          </a:solidFill>
          <a:ln/>
        </p:spPr>
        <p:txBody>
          <a:bodyPr wrap="square" lIns="114300" tIns="114300" rIns="114300" bIns="114300" rtlCol="0" anchor="ctr"/>
          <a:lstStyle/>
          <a:p>
            <a:pPr marL="0" indent="0">
              <a:buNone/>
            </a:pPr>
            <a:r>
              <a:rPr lang="en-US" sz="1400" b="1" dirty="0">
                <a:solidFill>
                  <a:schemeClr val="bg1"/>
                </a:solidFill>
              </a:rPr>
              <a:t>Read the addresses from settings</a:t>
            </a:r>
            <a:endParaRPr lang="en-US" sz="1400" dirty="0"/>
          </a:p>
        </p:txBody>
      </p:sp>
      <p:sp>
        <p:nvSpPr>
          <p:cNvPr id="14" name="Fix 4 today"/>
          <p:cNvSpPr txBox="1"/>
          <p:nvPr/>
        </p:nvSpPr>
        <p:spPr>
          <a:xfrm>
            <a:off x="457200" y="2916936"/>
            <a:ext cx="3931920" cy="429768"/>
          </a:xfrm>
          <a:prstGeom prst="roundRect">
            <a:avLst>
              <a:gd name="adj" fmla="val 12766"/>
            </a:avLst>
          </a:prstGeom>
          <a:solidFill>
            <a:schemeClr val="bg2"/>
          </a:solidFill>
          <a:ln/>
        </p:spPr>
        <p:txBody>
          <a:bodyPr wrap="square" lIns="114300" tIns="114300" rIns="114300" bIns="114300" rtlCol="0" anchor="ctr"/>
          <a:lstStyle/>
          <a:p>
            <a:pPr marL="0" indent="0">
              <a:buNone/>
            </a:pPr>
            <a:r>
              <a:rPr lang="en-US" sz="1400" dirty="0">
                <a:solidFill>
                  <a:schemeClr val="tx1"/>
                </a:solidFill>
              </a:rPr>
              <a:t>Some internal routes have no login check</a:t>
            </a:r>
            <a:endParaRPr lang="en-US" sz="1400" dirty="0"/>
          </a:p>
        </p:txBody>
      </p:sp>
      <p:sp>
        <p:nvSpPr>
          <p:cNvPr id="15" name="Fix 4 arrow"/>
          <p:cNvSpPr/>
          <p:nvPr/>
        </p:nvSpPr>
        <p:spPr>
          <a:xfrm>
            <a:off x="4462272" y="3131820"/>
            <a:ext cx="219456" cy="0"/>
          </a:xfrm>
          <a:prstGeom prst="line">
            <a:avLst/>
          </a:prstGeom>
          <a:noFill/>
          <a:ln w="22225">
            <a:solidFill>
              <a:schemeClr val="accent4"/>
            </a:solidFill>
            <a:prstDash val="solid"/>
            <a:tailEnd type="triangle"/>
          </a:ln>
        </p:spPr>
      </p:sp>
      <p:sp>
        <p:nvSpPr>
          <p:cNvPr id="16" name="Fix 4 change"/>
          <p:cNvSpPr txBox="1"/>
          <p:nvPr/>
        </p:nvSpPr>
        <p:spPr>
          <a:xfrm>
            <a:off x="4754880" y="2916936"/>
            <a:ext cx="3931920" cy="429768"/>
          </a:xfrm>
          <a:prstGeom prst="roundRect">
            <a:avLst>
              <a:gd name="adj" fmla="val 12766"/>
            </a:avLst>
          </a:prstGeom>
          <a:solidFill>
            <a:schemeClr val="tx2"/>
          </a:solidFill>
          <a:ln/>
        </p:spPr>
        <p:txBody>
          <a:bodyPr wrap="square" lIns="114300" tIns="114300" rIns="114300" bIns="114300" rtlCol="0" anchor="ctr"/>
          <a:lstStyle/>
          <a:p>
            <a:pPr marL="0" indent="0">
              <a:buNone/>
            </a:pPr>
            <a:r>
              <a:rPr lang="en-US" sz="1400" b="1" dirty="0">
                <a:solidFill>
                  <a:schemeClr val="bg1"/>
                </a:solidFill>
              </a:rPr>
              <a:t>Keep those parts in the private network</a:t>
            </a:r>
            <a:endParaRPr lang="en-US" sz="1400" dirty="0"/>
          </a:p>
        </p:txBody>
      </p:sp>
      <p:sp>
        <p:nvSpPr>
          <p:cNvPr id="17" name="Fix 5 today"/>
          <p:cNvSpPr txBox="1"/>
          <p:nvPr/>
        </p:nvSpPr>
        <p:spPr>
          <a:xfrm>
            <a:off x="457200" y="3438144"/>
            <a:ext cx="3931920" cy="429768"/>
          </a:xfrm>
          <a:prstGeom prst="roundRect">
            <a:avLst>
              <a:gd name="adj" fmla="val 12766"/>
            </a:avLst>
          </a:prstGeom>
          <a:solidFill>
            <a:schemeClr val="bg2"/>
          </a:solidFill>
          <a:ln/>
        </p:spPr>
        <p:txBody>
          <a:bodyPr wrap="square" lIns="114300" tIns="114300" rIns="114300" bIns="114300" rtlCol="0" anchor="ctr"/>
          <a:lstStyle/>
          <a:p>
            <a:pPr marL="0" indent="0">
              <a:buNone/>
            </a:pPr>
            <a:r>
              <a:rPr lang="en-US" sz="1400" dirty="0">
                <a:solidFill>
                  <a:schemeClr val="tx1"/>
                </a:solidFill>
              </a:rPr>
              <a:t>Each part updates its tables at start-up</a:t>
            </a:r>
            <a:endParaRPr lang="en-US" sz="1400" dirty="0"/>
          </a:p>
        </p:txBody>
      </p:sp>
      <p:sp>
        <p:nvSpPr>
          <p:cNvPr id="18" name="Fix 5 arrow"/>
          <p:cNvSpPr/>
          <p:nvPr/>
        </p:nvSpPr>
        <p:spPr>
          <a:xfrm>
            <a:off x="4462272" y="3653028"/>
            <a:ext cx="219456" cy="0"/>
          </a:xfrm>
          <a:prstGeom prst="line">
            <a:avLst/>
          </a:prstGeom>
          <a:noFill/>
          <a:ln w="22225">
            <a:solidFill>
              <a:schemeClr val="accent4"/>
            </a:solidFill>
            <a:prstDash val="solid"/>
            <a:tailEnd type="triangle"/>
          </a:ln>
        </p:spPr>
      </p:sp>
      <p:sp>
        <p:nvSpPr>
          <p:cNvPr id="19" name="Fix 5 change"/>
          <p:cNvSpPr txBox="1"/>
          <p:nvPr/>
        </p:nvSpPr>
        <p:spPr>
          <a:xfrm>
            <a:off x="4754880" y="3438144"/>
            <a:ext cx="3931920" cy="429768"/>
          </a:xfrm>
          <a:prstGeom prst="roundRect">
            <a:avLst>
              <a:gd name="adj" fmla="val 12766"/>
            </a:avLst>
          </a:prstGeom>
          <a:solidFill>
            <a:schemeClr val="tx2"/>
          </a:solidFill>
          <a:ln/>
        </p:spPr>
        <p:txBody>
          <a:bodyPr wrap="square" lIns="114300" tIns="114300" rIns="114300" bIns="114300" rtlCol="0" anchor="ctr"/>
          <a:lstStyle/>
          <a:p>
            <a:pPr marL="0" indent="0">
              <a:buNone/>
            </a:pPr>
            <a:r>
              <a:rPr lang="en-US" sz="1400" b="1" dirty="0">
                <a:solidFill>
                  <a:schemeClr val="bg1"/>
                </a:solidFill>
              </a:rPr>
              <a:t>Fine for one copy; a separate step later</a:t>
            </a:r>
            <a:endParaRPr lang="en-US" sz="1400" dirty="0"/>
          </a:p>
        </p:txBody>
      </p:sp>
      <p:sp>
        <p:nvSpPr>
          <p:cNvPr id="20" name="Fix 6 today"/>
          <p:cNvSpPr txBox="1"/>
          <p:nvPr/>
        </p:nvSpPr>
        <p:spPr>
          <a:xfrm>
            <a:off x="457200" y="3959352"/>
            <a:ext cx="3931920" cy="429768"/>
          </a:xfrm>
          <a:prstGeom prst="roundRect">
            <a:avLst>
              <a:gd name="adj" fmla="val 12766"/>
            </a:avLst>
          </a:prstGeom>
          <a:solidFill>
            <a:schemeClr val="bg2"/>
          </a:solidFill>
          <a:ln/>
        </p:spPr>
        <p:txBody>
          <a:bodyPr wrap="square" lIns="114300" tIns="114300" rIns="114300" bIns="114300" rtlCol="0" anchor="ctr"/>
          <a:lstStyle/>
          <a:p>
            <a:pPr marL="0" indent="0">
              <a:buNone/>
            </a:pPr>
            <a:r>
              <a:rPr lang="en-US" sz="1400" dirty="0">
                <a:solidFill>
                  <a:schemeClr val="tx1"/>
                </a:solidFill>
              </a:rPr>
              <a:t>Admin password is written in a code file</a:t>
            </a:r>
            <a:endParaRPr lang="en-US" sz="1400" dirty="0"/>
          </a:p>
        </p:txBody>
      </p:sp>
      <p:sp>
        <p:nvSpPr>
          <p:cNvPr id="21" name="Fix 6 arrow"/>
          <p:cNvSpPr/>
          <p:nvPr/>
        </p:nvSpPr>
        <p:spPr>
          <a:xfrm>
            <a:off x="4462272" y="4174236"/>
            <a:ext cx="219456" cy="0"/>
          </a:xfrm>
          <a:prstGeom prst="line">
            <a:avLst/>
          </a:prstGeom>
          <a:noFill/>
          <a:ln w="22225">
            <a:solidFill>
              <a:schemeClr val="accent4"/>
            </a:solidFill>
            <a:prstDash val="solid"/>
            <a:tailEnd type="triangle"/>
          </a:ln>
        </p:spPr>
      </p:sp>
      <p:sp>
        <p:nvSpPr>
          <p:cNvPr id="22" name="Fix 6 change"/>
          <p:cNvSpPr txBox="1"/>
          <p:nvPr/>
        </p:nvSpPr>
        <p:spPr>
          <a:xfrm>
            <a:off x="4754880" y="3959352"/>
            <a:ext cx="3931920" cy="429768"/>
          </a:xfrm>
          <a:prstGeom prst="roundRect">
            <a:avLst>
              <a:gd name="adj" fmla="val 12766"/>
            </a:avLst>
          </a:prstGeom>
          <a:solidFill>
            <a:schemeClr val="tx2"/>
          </a:solidFill>
          <a:ln/>
        </p:spPr>
        <p:txBody>
          <a:bodyPr wrap="square" lIns="114300" tIns="114300" rIns="114300" bIns="114300" rtlCol="0" anchor="ctr"/>
          <a:lstStyle/>
          <a:p>
            <a:pPr marL="0" indent="0">
              <a:buNone/>
            </a:pPr>
            <a:r>
              <a:rPr lang="en-US" sz="1400" b="1" dirty="0">
                <a:solidFill>
                  <a:schemeClr val="bg1"/>
                </a:solidFill>
              </a:rPr>
              <a:t>Move it to Secrets Manager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046720" cy="731520"/>
          </a:xfrm>
          <a:prstGeom prst="rect">
            <a:avLst/>
          </a:prstGeom>
          <a:noFill/>
          <a:ln/>
        </p:spPr>
        <p:txBody>
          <a:bodyPr wrap="square" lIns="0" tIns="0" rIns="0" bIns="0" rtlCol="0" anchor="ctr"/>
          <a:lstStyle/>
          <a:p>
            <a:pPr marL="0" indent="0" algn="l">
              <a:buNone/>
            </a:pPr>
            <a:r>
              <a:rPr lang="en-US" sz="3400" b="1" dirty="0">
                <a:solidFill>
                  <a:schemeClr val="bg1"/>
                </a:solidFill>
              </a:rPr>
              <a:t>In short, and what I do next</a:t>
            </a:r>
            <a:endParaRPr lang="en-US" sz="3400" dirty="0"/>
          </a:p>
        </p:txBody>
      </p:sp>
      <p:sp>
        <p:nvSpPr>
          <p:cNvPr id="3" name="Plan label"/>
          <p:cNvSpPr txBox="1"/>
          <p:nvPr/>
        </p:nvSpPr>
        <p:spPr>
          <a:xfrm>
            <a:off x="548640" y="1600200"/>
            <a:ext cx="3749040" cy="320040"/>
          </a:xfrm>
          <a:prstGeom prst="rect">
            <a:avLst/>
          </a:prstGeom>
          <a:noFill/>
          <a:ln/>
        </p:spPr>
        <p:txBody>
          <a:bodyPr wrap="square" lIns="0" tIns="0" rIns="0" bIns="0" rtlCol="0" anchor="ctr"/>
          <a:lstStyle/>
          <a:p>
            <a:pPr marL="0" indent="0">
              <a:buNone/>
            </a:pPr>
            <a:r>
              <a:rPr lang="en-US" sz="1400" b="1" dirty="0">
                <a:solidFill>
                  <a:schemeClr val="accent6"/>
                </a:solidFill>
              </a:rPr>
              <a:t>The plan</a:t>
            </a:r>
            <a:endParaRPr lang="en-US" sz="1400" dirty="0"/>
          </a:p>
        </p:txBody>
      </p:sp>
      <p:sp>
        <p:nvSpPr>
          <p:cNvPr id="4" name="Plan summary"/>
          <p:cNvSpPr txBox="1"/>
          <p:nvPr/>
        </p:nvSpPr>
        <p:spPr>
          <a:xfrm>
            <a:off x="557530" y="2194560"/>
            <a:ext cx="3749040" cy="21945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bg1"/>
                </a:solidFill>
              </a:rPr>
              <a:t>Each part runs as a container on Fargate</a:t>
            </a:r>
            <a:endParaRPr lang="en-US" sz="1600" dirty="0"/>
          </a:p>
          <a:p>
            <a:pPr marL="342900" indent="-342900">
              <a:spcAft>
                <a:spcPts val="1200"/>
              </a:spcAft>
              <a:buSzPct val="100000"/>
              <a:buChar char="•"/>
            </a:pPr>
            <a:r>
              <a:rPr lang="en-US" sz="1600" dirty="0">
                <a:solidFill>
                  <a:schemeClr val="bg1"/>
                </a:solidFill>
              </a:rPr>
              <a:t>Amazon runs the database, cache, storage and queue</a:t>
            </a:r>
            <a:endParaRPr lang="en-US" sz="1600" dirty="0"/>
          </a:p>
          <a:p>
            <a:pPr marL="342900" indent="-342900">
              <a:spcAft>
                <a:spcPts val="1200"/>
              </a:spcAft>
              <a:buSzPct val="100000"/>
              <a:buChar char="•"/>
            </a:pPr>
            <a:r>
              <a:rPr lang="en-US" sz="1600" dirty="0">
                <a:solidFill>
                  <a:schemeClr val="bg1"/>
                </a:solidFill>
              </a:rPr>
              <a:t>Only the Gateway is open to the internet</a:t>
            </a:r>
            <a:endParaRPr lang="en-US" sz="1600" dirty="0"/>
          </a:p>
        </p:txBody>
      </p:sp>
      <p:sp>
        <p:nvSpPr>
          <p:cNvPr id="5" name="Next label"/>
          <p:cNvSpPr txBox="1"/>
          <p:nvPr/>
        </p:nvSpPr>
        <p:spPr>
          <a:xfrm>
            <a:off x="4846320" y="1600200"/>
            <a:ext cx="3749040" cy="320040"/>
          </a:xfrm>
          <a:prstGeom prst="rect">
            <a:avLst/>
          </a:prstGeom>
          <a:noFill/>
          <a:ln/>
        </p:spPr>
        <p:txBody>
          <a:bodyPr wrap="square" lIns="0" tIns="0" rIns="0" bIns="0" rtlCol="0" anchor="ctr"/>
          <a:lstStyle/>
          <a:p>
            <a:pPr marL="0" indent="0">
              <a:buNone/>
            </a:pPr>
            <a:r>
              <a:rPr lang="en-US" sz="1400" b="1" dirty="0">
                <a:solidFill>
                  <a:schemeClr val="accent6"/>
                </a:solidFill>
              </a:rPr>
              <a:t>Next steps</a:t>
            </a:r>
            <a:endParaRPr lang="en-US" sz="1400" dirty="0"/>
          </a:p>
        </p:txBody>
      </p:sp>
      <p:sp>
        <p:nvSpPr>
          <p:cNvPr id="6" name="Next 1 badge"/>
          <p:cNvSpPr txBox="1"/>
          <p:nvPr/>
        </p:nvSpPr>
        <p:spPr>
          <a:xfrm>
            <a:off x="4846320" y="2011680"/>
            <a:ext cx="502920" cy="50292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Next 1 text"/>
          <p:cNvSpPr txBox="1"/>
          <p:nvPr/>
        </p:nvSpPr>
        <p:spPr>
          <a:xfrm>
            <a:off x="5532120" y="2011680"/>
            <a:ext cx="3063240" cy="502920"/>
          </a:xfrm>
          <a:prstGeom prst="rect">
            <a:avLst/>
          </a:prstGeom>
          <a:noFill/>
          <a:ln/>
        </p:spPr>
        <p:txBody>
          <a:bodyPr wrap="square" lIns="0" tIns="0" rIns="0" bIns="0" rtlCol="0" anchor="ctr"/>
          <a:lstStyle/>
          <a:p>
            <a:pPr marL="0" indent="0">
              <a:buNone/>
            </a:pPr>
            <a:r>
              <a:rPr lang="en-US" sz="1600" dirty="0">
                <a:solidFill>
                  <a:schemeClr val="bg1"/>
                </a:solidFill>
              </a:rPr>
              <a:t>Run one part in a container, without Aspire</a:t>
            </a:r>
            <a:endParaRPr lang="en-US" sz="1600" dirty="0"/>
          </a:p>
        </p:txBody>
      </p:sp>
      <p:sp>
        <p:nvSpPr>
          <p:cNvPr id="8" name="Next 2 badge"/>
          <p:cNvSpPr txBox="1"/>
          <p:nvPr/>
        </p:nvSpPr>
        <p:spPr>
          <a:xfrm>
            <a:off x="4846320" y="2788920"/>
            <a:ext cx="502920" cy="50292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Next 2 text"/>
          <p:cNvSpPr txBox="1"/>
          <p:nvPr/>
        </p:nvSpPr>
        <p:spPr>
          <a:xfrm>
            <a:off x="5532120" y="2788920"/>
            <a:ext cx="3063240" cy="502920"/>
          </a:xfrm>
          <a:prstGeom prst="rect">
            <a:avLst/>
          </a:prstGeom>
          <a:noFill/>
          <a:ln/>
        </p:spPr>
        <p:txBody>
          <a:bodyPr wrap="square" lIns="0" tIns="0" rIns="0" bIns="0" rtlCol="0" anchor="ctr"/>
          <a:lstStyle/>
          <a:p>
            <a:pPr marL="0" indent="0">
              <a:buNone/>
            </a:pPr>
            <a:r>
              <a:rPr lang="en-US" sz="1600" dirty="0">
                <a:solidFill>
                  <a:schemeClr val="bg1"/>
                </a:solidFill>
              </a:rPr>
              <a:t>Change the code to use S3 and SQS</a:t>
            </a:r>
            <a:endParaRPr lang="en-US" sz="1600" dirty="0"/>
          </a:p>
        </p:txBody>
      </p:sp>
      <p:sp>
        <p:nvSpPr>
          <p:cNvPr id="10" name="Next 3 badge"/>
          <p:cNvSpPr txBox="1"/>
          <p:nvPr/>
        </p:nvSpPr>
        <p:spPr>
          <a:xfrm>
            <a:off x="4846320" y="3566160"/>
            <a:ext cx="502920" cy="50292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1" name="Next 3 text"/>
          <p:cNvSpPr txBox="1"/>
          <p:nvPr/>
        </p:nvSpPr>
        <p:spPr>
          <a:xfrm>
            <a:off x="5532120" y="3566160"/>
            <a:ext cx="3063240" cy="502920"/>
          </a:xfrm>
          <a:prstGeom prst="rect">
            <a:avLst/>
          </a:prstGeom>
          <a:noFill/>
          <a:ln/>
        </p:spPr>
        <p:txBody>
          <a:bodyPr wrap="square" lIns="0" tIns="0" rIns="0" bIns="0" rtlCol="0" anchor="ctr"/>
          <a:lstStyle/>
          <a:p>
            <a:pPr marL="0" indent="0">
              <a:buNone/>
            </a:pPr>
            <a:r>
              <a:rPr lang="en-US" sz="1600" dirty="0">
                <a:solidFill>
                  <a:schemeClr val="bg1"/>
                </a:solidFill>
              </a:rPr>
              <a:t>Set up AWS and deploy</a:t>
            </a:r>
            <a:endParaRPr lang="en-US" sz="1600" dirty="0"/>
          </a:p>
        </p:txBody>
      </p:sp>
    </p:spTree>
  </p:cSld>
  <p:clrMapOvr>
    <a:masterClrMapping/>
  </p:clrMapOvr>
</p:sld>
</file>

<file path=ppt/theme/theme1.xml><?xml version="1.0" encoding="utf-8"?>
<a:theme xmlns:a="http://schemas.openxmlformats.org/drawingml/2006/main" name="SalonBooking AWS">
  <a:themeElements>
    <a:clrScheme name="SalonBooking AWS">
      <a:dk1>
        <a:srgbClr val="2A1A2E"/>
      </a:dk1>
      <a:lt1>
        <a:srgbClr val="FFFFFF"/>
      </a:lt1>
      <a:dk2>
        <a:srgbClr val="4F2352"/>
      </a:dk2>
      <a:lt2>
        <a:srgbClr val="F4ECF3"/>
      </a:lt2>
      <a:accent1>
        <a:srgbClr val="4F2352"/>
      </a:accent1>
      <a:accent2>
        <a:srgbClr val="E2603A"/>
      </a:accent2>
      <a:accent3>
        <a:srgbClr val="23807F"/>
      </a:accent3>
      <a:accent4>
        <a:srgbClr val="7D6582"/>
      </a:accent4>
      <a:accent5>
        <a:srgbClr val="C9A7C7"/>
      </a:accent5>
      <a:accent6>
        <a:srgbClr val="F2B8A2"/>
      </a:accent6>
      <a:hlink>
        <a:srgbClr val="23807F"/>
      </a:hlink>
      <a:folHlink>
        <a:srgbClr val="7D6582"/>
      </a:folHlink>
    </a:clrScheme>
    <a:fontScheme name="SalonBooking AW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341</TotalTime>
  <Words>1666</Words>
  <Application>Microsoft Office PowerPoint</Application>
  <PresentationFormat>On-screen Show (16:9)</PresentationFormat>
  <Paragraphs>142</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SalonBooking AWS</vt:lpstr>
      <vt:lpstr>Deploying SalonBooking to AWS</vt:lpstr>
      <vt:lpstr>The app today: six small parts</vt:lpstr>
      <vt:lpstr>Where each part will live in AWS</vt:lpstr>
      <vt:lpstr>One door in: only the Gateway is reachable</vt:lpstr>
      <vt:lpstr>Six steps to deploy</vt:lpstr>
      <vt:lpstr>Six things to fix before deploying</vt:lpstr>
      <vt:lpstr>In short, and what I do next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Deploying SalonBooking to AWS</dc:title>
  <dc:subject>PptxGenJS Presentation</dc:subject>
  <dc:creator>PptxGenJS</dc:creator>
  <cp:lastModifiedBy>Amit Kushwaha</cp:lastModifiedBy>
  <cp:revision>2</cp:revision>
  <dcterms:created xsi:type="dcterms:W3CDTF">2026-10-06T07:06:47Z</dcterms:created>
  <dcterms:modified xsi:type="dcterms:W3CDTF">2026-10-06T12:52:38Z</dcterms:modified>
</cp:coreProperties>
</file>